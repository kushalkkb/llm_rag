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1" r:id="rId5"/>
    <p:sldId id="262" r:id="rId6"/>
    <p:sldId id="263" r:id="rId7"/>
    <p:sldId id="264" r:id="rId8"/>
    <p:sldId id="265" r:id="rId9"/>
    <p:sldId id="266" r:id="rId10"/>
    <p:sldId id="267" r:id="rId11"/>
    <p:sldId id="268" r:id="rId12"/>
    <p:sldId id="259" r:id="rId13"/>
    <p:sldId id="260"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301" y="5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60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08024" y="2427614"/>
            <a:ext cx="3775951" cy="939800"/>
          </a:xfrm>
          <a:prstGeom prst="rect">
            <a:avLst/>
          </a:prstGeom>
        </p:spPr>
        <p:txBody>
          <a:bodyPr wrap="square" lIns="0" tIns="0" rIns="0" bIns="0">
            <a:spAutoFit/>
          </a:bodyPr>
          <a:lstStyle>
            <a:lvl1pPr>
              <a:defRPr sz="60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639472" y="1327672"/>
            <a:ext cx="6923405" cy="31394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huggingface.co/papers/2506.18027?utm_source=chatgpt.com" TargetMode="External"/><Relationship Id="rId2" Type="http://schemas.openxmlformats.org/officeDocument/2006/relationships/hyperlink" Target="https://openaccess.thecvf.com/content/CVPR2025/html/Tanaka_VDocRAG_Retrieval-Augmented_Generation_over_Visually-Rich_Documents_CVPR_2025_paper.html?utm_source=chatgpt.com" TargetMode="External"/><Relationship Id="rId1" Type="http://schemas.openxmlformats.org/officeDocument/2006/relationships/slideLayout" Target="../slideLayouts/slideLayout2.xml"/><Relationship Id="rId6" Type="http://schemas.openxmlformats.org/officeDocument/2006/relationships/hyperlink" Target="https://aclanthology.org/2025.acl-industry.53/?utm_source=chatgpt.com" TargetMode="External"/><Relationship Id="rId5" Type="http://schemas.openxmlformats.org/officeDocument/2006/relationships/hyperlink" Target="https://aclanthology.org/2025.naacl-long.635/?utm_source=chatgpt.com" TargetMode="External"/><Relationship Id="rId4" Type="http://schemas.openxmlformats.org/officeDocument/2006/relationships/hyperlink" Target="https://aclanthology.org/2025.acl-long.43/?utm_source=chatgpt.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huggingface.co/papers/2506.18027"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0017" y="830848"/>
            <a:ext cx="7003415" cy="513080"/>
          </a:xfrm>
          <a:prstGeom prst="rect">
            <a:avLst/>
          </a:prstGeom>
        </p:spPr>
        <p:txBody>
          <a:bodyPr vert="horz" wrap="square" lIns="0" tIns="12700" rIns="0" bIns="0" rtlCol="0">
            <a:spAutoFit/>
          </a:bodyPr>
          <a:lstStyle/>
          <a:p>
            <a:pPr marL="12700">
              <a:lnSpc>
                <a:spcPct val="100000"/>
              </a:lnSpc>
              <a:spcBef>
                <a:spcPts val="100"/>
              </a:spcBef>
            </a:pPr>
            <a:r>
              <a:rPr sz="3200" b="1" dirty="0">
                <a:latin typeface="Times New Roman"/>
                <a:cs typeface="Times New Roman"/>
              </a:rPr>
              <a:t>B.M.S.</a:t>
            </a:r>
            <a:r>
              <a:rPr sz="3200" b="1" spc="-114" dirty="0">
                <a:latin typeface="Times New Roman"/>
                <a:cs typeface="Times New Roman"/>
              </a:rPr>
              <a:t> </a:t>
            </a:r>
            <a:r>
              <a:rPr sz="3200" b="1" dirty="0">
                <a:latin typeface="Times New Roman"/>
                <a:cs typeface="Times New Roman"/>
              </a:rPr>
              <a:t>COLLEGE</a:t>
            </a:r>
            <a:r>
              <a:rPr sz="3200" b="1" spc="-105" dirty="0">
                <a:latin typeface="Times New Roman"/>
                <a:cs typeface="Times New Roman"/>
              </a:rPr>
              <a:t> </a:t>
            </a:r>
            <a:r>
              <a:rPr sz="3200" b="1" dirty="0">
                <a:latin typeface="Times New Roman"/>
                <a:cs typeface="Times New Roman"/>
              </a:rPr>
              <a:t>OF</a:t>
            </a:r>
            <a:r>
              <a:rPr sz="3200" b="1" spc="-200" dirty="0">
                <a:latin typeface="Times New Roman"/>
                <a:cs typeface="Times New Roman"/>
              </a:rPr>
              <a:t> </a:t>
            </a:r>
            <a:r>
              <a:rPr sz="3200" b="1" spc="-10" dirty="0">
                <a:latin typeface="Times New Roman"/>
                <a:cs typeface="Times New Roman"/>
              </a:rPr>
              <a:t>ENGINEERING</a:t>
            </a:r>
            <a:endParaRPr sz="3200">
              <a:latin typeface="Times New Roman"/>
              <a:cs typeface="Times New Roman"/>
            </a:endParaRPr>
          </a:p>
        </p:txBody>
      </p:sp>
      <p:sp>
        <p:nvSpPr>
          <p:cNvPr id="3" name="object 3"/>
          <p:cNvSpPr txBox="1"/>
          <p:nvPr/>
        </p:nvSpPr>
        <p:spPr>
          <a:xfrm>
            <a:off x="2639472" y="1327672"/>
            <a:ext cx="6923405" cy="3139440"/>
          </a:xfrm>
          <a:prstGeom prst="rect">
            <a:avLst/>
          </a:prstGeom>
        </p:spPr>
        <p:txBody>
          <a:bodyPr vert="horz" wrap="square" lIns="0" tIns="12700" rIns="0" bIns="0" rtlCol="0">
            <a:spAutoFit/>
          </a:bodyPr>
          <a:lstStyle/>
          <a:p>
            <a:pPr marL="3175" algn="ctr">
              <a:lnSpc>
                <a:spcPts val="1650"/>
              </a:lnSpc>
              <a:spcBef>
                <a:spcPts val="100"/>
              </a:spcBef>
            </a:pPr>
            <a:r>
              <a:rPr sz="1400" i="1" spc="-55" dirty="0">
                <a:latin typeface="Times New Roman"/>
                <a:cs typeface="Times New Roman"/>
              </a:rPr>
              <a:t>(An</a:t>
            </a:r>
            <a:r>
              <a:rPr sz="1400" i="1" spc="-30" dirty="0">
                <a:latin typeface="Times New Roman"/>
                <a:cs typeface="Times New Roman"/>
              </a:rPr>
              <a:t> </a:t>
            </a:r>
            <a:r>
              <a:rPr sz="1400" i="1" spc="-85" dirty="0">
                <a:latin typeface="Times New Roman"/>
                <a:cs typeface="Times New Roman"/>
              </a:rPr>
              <a:t>Autonomous</a:t>
            </a:r>
            <a:r>
              <a:rPr sz="1400" i="1" spc="-25" dirty="0">
                <a:latin typeface="Times New Roman"/>
                <a:cs typeface="Times New Roman"/>
              </a:rPr>
              <a:t> </a:t>
            </a:r>
            <a:r>
              <a:rPr sz="1400" i="1" spc="-30" dirty="0">
                <a:latin typeface="Times New Roman"/>
                <a:cs typeface="Times New Roman"/>
              </a:rPr>
              <a:t>Institute,</a:t>
            </a:r>
            <a:r>
              <a:rPr sz="1400" i="1" spc="-25" dirty="0">
                <a:latin typeface="Times New Roman"/>
                <a:cs typeface="Times New Roman"/>
              </a:rPr>
              <a:t> </a:t>
            </a:r>
            <a:r>
              <a:rPr sz="1400" i="1" spc="-40" dirty="0">
                <a:latin typeface="Times New Roman"/>
                <a:cs typeface="Times New Roman"/>
              </a:rPr>
              <a:t>Affiliated</a:t>
            </a:r>
            <a:r>
              <a:rPr sz="1400" i="1" spc="-25" dirty="0">
                <a:latin typeface="Times New Roman"/>
                <a:cs typeface="Times New Roman"/>
              </a:rPr>
              <a:t> </a:t>
            </a:r>
            <a:r>
              <a:rPr sz="1400" i="1" spc="-50" dirty="0">
                <a:latin typeface="Times New Roman"/>
                <a:cs typeface="Times New Roman"/>
              </a:rPr>
              <a:t>to</a:t>
            </a:r>
            <a:r>
              <a:rPr sz="1400" i="1" spc="-30" dirty="0">
                <a:latin typeface="Times New Roman"/>
                <a:cs typeface="Times New Roman"/>
              </a:rPr>
              <a:t> </a:t>
            </a:r>
            <a:r>
              <a:rPr sz="1400" i="1" spc="-20" dirty="0">
                <a:latin typeface="Times New Roman"/>
                <a:cs typeface="Times New Roman"/>
              </a:rPr>
              <a:t>VTU,</a:t>
            </a:r>
            <a:r>
              <a:rPr sz="1400" i="1" spc="-25" dirty="0">
                <a:latin typeface="Times New Roman"/>
                <a:cs typeface="Times New Roman"/>
              </a:rPr>
              <a:t> </a:t>
            </a:r>
            <a:r>
              <a:rPr sz="1400" i="1" spc="-10" dirty="0">
                <a:latin typeface="Times New Roman"/>
                <a:cs typeface="Times New Roman"/>
              </a:rPr>
              <a:t>Belagavi)</a:t>
            </a:r>
            <a:endParaRPr sz="1400">
              <a:latin typeface="Times New Roman"/>
              <a:cs typeface="Times New Roman"/>
            </a:endParaRPr>
          </a:p>
          <a:p>
            <a:pPr algn="ctr">
              <a:lnSpc>
                <a:spcPts val="3329"/>
              </a:lnSpc>
            </a:pPr>
            <a:r>
              <a:rPr sz="2800" b="1" spc="-35" dirty="0">
                <a:solidFill>
                  <a:srgbClr val="C00000"/>
                </a:solidFill>
                <a:latin typeface="Times New Roman"/>
                <a:cs typeface="Times New Roman"/>
              </a:rPr>
              <a:t>DEPARTMENT</a:t>
            </a:r>
            <a:r>
              <a:rPr sz="2800" b="1" spc="-85" dirty="0">
                <a:solidFill>
                  <a:srgbClr val="C00000"/>
                </a:solidFill>
                <a:latin typeface="Times New Roman"/>
                <a:cs typeface="Times New Roman"/>
              </a:rPr>
              <a:t> </a:t>
            </a:r>
            <a:r>
              <a:rPr sz="2800" b="1" dirty="0">
                <a:solidFill>
                  <a:srgbClr val="C00000"/>
                </a:solidFill>
                <a:latin typeface="Times New Roman"/>
                <a:cs typeface="Times New Roman"/>
              </a:rPr>
              <a:t>OF</a:t>
            </a:r>
            <a:r>
              <a:rPr sz="2800" b="1" spc="-140" dirty="0">
                <a:solidFill>
                  <a:srgbClr val="C00000"/>
                </a:solidFill>
                <a:latin typeface="Times New Roman"/>
                <a:cs typeface="Times New Roman"/>
              </a:rPr>
              <a:t> </a:t>
            </a:r>
            <a:r>
              <a:rPr sz="2800" b="1" dirty="0">
                <a:solidFill>
                  <a:srgbClr val="C00000"/>
                </a:solidFill>
                <a:latin typeface="Times New Roman"/>
                <a:cs typeface="Times New Roman"/>
              </a:rPr>
              <a:t>MACHINE</a:t>
            </a:r>
            <a:r>
              <a:rPr sz="2800" b="1" spc="-35" dirty="0">
                <a:solidFill>
                  <a:srgbClr val="C00000"/>
                </a:solidFill>
                <a:latin typeface="Times New Roman"/>
                <a:cs typeface="Times New Roman"/>
              </a:rPr>
              <a:t> </a:t>
            </a:r>
            <a:r>
              <a:rPr sz="2800" b="1" spc="-10" dirty="0">
                <a:solidFill>
                  <a:srgbClr val="C00000"/>
                </a:solidFill>
                <a:latin typeface="Times New Roman"/>
                <a:cs typeface="Times New Roman"/>
              </a:rPr>
              <a:t>LEARNING</a:t>
            </a:r>
            <a:endParaRPr sz="2800">
              <a:latin typeface="Times New Roman"/>
              <a:cs typeface="Times New Roman"/>
            </a:endParaRPr>
          </a:p>
          <a:p>
            <a:pPr marL="9525" algn="ctr">
              <a:lnSpc>
                <a:spcPct val="100000"/>
              </a:lnSpc>
              <a:spcBef>
                <a:spcPts val="55"/>
              </a:spcBef>
            </a:pPr>
            <a:r>
              <a:rPr sz="1400" dirty="0">
                <a:solidFill>
                  <a:srgbClr val="C00000"/>
                </a:solidFill>
                <a:latin typeface="Times New Roman"/>
                <a:cs typeface="Times New Roman"/>
              </a:rPr>
              <a:t>(UG</a:t>
            </a:r>
            <a:r>
              <a:rPr sz="1400" spc="-35" dirty="0">
                <a:solidFill>
                  <a:srgbClr val="C00000"/>
                </a:solidFill>
                <a:latin typeface="Times New Roman"/>
                <a:cs typeface="Times New Roman"/>
              </a:rPr>
              <a:t> </a:t>
            </a:r>
            <a:r>
              <a:rPr sz="1400" dirty="0">
                <a:solidFill>
                  <a:srgbClr val="C00000"/>
                </a:solidFill>
                <a:latin typeface="Times New Roman"/>
                <a:cs typeface="Times New Roman"/>
              </a:rPr>
              <a:t>Program:</a:t>
            </a:r>
            <a:r>
              <a:rPr sz="1400" spc="-20" dirty="0">
                <a:solidFill>
                  <a:srgbClr val="C00000"/>
                </a:solidFill>
                <a:latin typeface="Times New Roman"/>
                <a:cs typeface="Times New Roman"/>
              </a:rPr>
              <a:t> </a:t>
            </a:r>
            <a:r>
              <a:rPr sz="1400" dirty="0">
                <a:solidFill>
                  <a:srgbClr val="C00000"/>
                </a:solidFill>
                <a:latin typeface="Times New Roman"/>
                <a:cs typeface="Times New Roman"/>
              </a:rPr>
              <a:t>B.E.</a:t>
            </a:r>
            <a:r>
              <a:rPr sz="1400" spc="-25" dirty="0">
                <a:solidFill>
                  <a:srgbClr val="C00000"/>
                </a:solidFill>
                <a:latin typeface="Times New Roman"/>
                <a:cs typeface="Times New Roman"/>
              </a:rPr>
              <a:t> </a:t>
            </a:r>
            <a:r>
              <a:rPr sz="1400" dirty="0">
                <a:solidFill>
                  <a:srgbClr val="C00000"/>
                </a:solidFill>
                <a:latin typeface="Times New Roman"/>
                <a:cs typeface="Times New Roman"/>
              </a:rPr>
              <a:t>in</a:t>
            </a:r>
            <a:r>
              <a:rPr sz="1400" spc="-85" dirty="0">
                <a:solidFill>
                  <a:srgbClr val="C00000"/>
                </a:solidFill>
                <a:latin typeface="Times New Roman"/>
                <a:cs typeface="Times New Roman"/>
              </a:rPr>
              <a:t> </a:t>
            </a:r>
            <a:r>
              <a:rPr sz="1400" spc="-10" dirty="0">
                <a:solidFill>
                  <a:srgbClr val="C00000"/>
                </a:solidFill>
                <a:latin typeface="Times New Roman"/>
                <a:cs typeface="Times New Roman"/>
              </a:rPr>
              <a:t>Artificial</a:t>
            </a:r>
            <a:r>
              <a:rPr sz="1400" spc="-20" dirty="0">
                <a:solidFill>
                  <a:srgbClr val="C00000"/>
                </a:solidFill>
                <a:latin typeface="Times New Roman"/>
                <a:cs typeface="Times New Roman"/>
              </a:rPr>
              <a:t> </a:t>
            </a:r>
            <a:r>
              <a:rPr sz="1400" dirty="0">
                <a:solidFill>
                  <a:srgbClr val="C00000"/>
                </a:solidFill>
                <a:latin typeface="Times New Roman"/>
                <a:cs typeface="Times New Roman"/>
              </a:rPr>
              <a:t>Intelligence</a:t>
            </a:r>
            <a:r>
              <a:rPr sz="1400" spc="-25" dirty="0">
                <a:solidFill>
                  <a:srgbClr val="C00000"/>
                </a:solidFill>
                <a:latin typeface="Times New Roman"/>
                <a:cs typeface="Times New Roman"/>
              </a:rPr>
              <a:t> </a:t>
            </a:r>
            <a:r>
              <a:rPr sz="1400" dirty="0">
                <a:solidFill>
                  <a:srgbClr val="C00000"/>
                </a:solidFill>
                <a:latin typeface="Times New Roman"/>
                <a:cs typeface="Times New Roman"/>
              </a:rPr>
              <a:t>and</a:t>
            </a:r>
            <a:r>
              <a:rPr sz="1400" spc="-20" dirty="0">
                <a:solidFill>
                  <a:srgbClr val="C00000"/>
                </a:solidFill>
                <a:latin typeface="Times New Roman"/>
                <a:cs typeface="Times New Roman"/>
              </a:rPr>
              <a:t> </a:t>
            </a:r>
            <a:r>
              <a:rPr sz="1400" dirty="0">
                <a:solidFill>
                  <a:srgbClr val="C00000"/>
                </a:solidFill>
                <a:latin typeface="Times New Roman"/>
                <a:cs typeface="Times New Roman"/>
              </a:rPr>
              <a:t>Machine</a:t>
            </a:r>
            <a:r>
              <a:rPr sz="1400" spc="-25" dirty="0">
                <a:solidFill>
                  <a:srgbClr val="C00000"/>
                </a:solidFill>
                <a:latin typeface="Times New Roman"/>
                <a:cs typeface="Times New Roman"/>
              </a:rPr>
              <a:t> </a:t>
            </a:r>
            <a:r>
              <a:rPr sz="1400" spc="-10" dirty="0">
                <a:solidFill>
                  <a:srgbClr val="C00000"/>
                </a:solidFill>
                <a:latin typeface="Times New Roman"/>
                <a:cs typeface="Times New Roman"/>
              </a:rPr>
              <a:t>Learning)</a:t>
            </a:r>
            <a:endParaRPr sz="1400">
              <a:latin typeface="Times New Roman"/>
              <a:cs typeface="Times New Roman"/>
            </a:endParaRPr>
          </a:p>
          <a:p>
            <a:pPr>
              <a:lnSpc>
                <a:spcPct val="100000"/>
              </a:lnSpc>
              <a:spcBef>
                <a:spcPts val="270"/>
              </a:spcBef>
            </a:pPr>
            <a:endParaRPr sz="1400">
              <a:latin typeface="Times New Roman"/>
              <a:cs typeface="Times New Roman"/>
            </a:endParaRPr>
          </a:p>
          <a:p>
            <a:pPr marL="1850389" marR="1827530" indent="-635" algn="ctr">
              <a:lnSpc>
                <a:spcPct val="99900"/>
              </a:lnSpc>
            </a:pPr>
            <a:r>
              <a:rPr sz="2400" b="1" dirty="0">
                <a:solidFill>
                  <a:srgbClr val="00487E"/>
                </a:solidFill>
                <a:latin typeface="Times New Roman"/>
                <a:cs typeface="Times New Roman"/>
              </a:rPr>
              <a:t>Course:</a:t>
            </a:r>
            <a:r>
              <a:rPr sz="2400" b="1" spc="-100" dirty="0">
                <a:solidFill>
                  <a:srgbClr val="00487E"/>
                </a:solidFill>
                <a:latin typeface="Times New Roman"/>
                <a:cs typeface="Times New Roman"/>
              </a:rPr>
              <a:t> </a:t>
            </a:r>
            <a:r>
              <a:rPr sz="2400" b="1" dirty="0">
                <a:solidFill>
                  <a:srgbClr val="00487E"/>
                </a:solidFill>
                <a:latin typeface="Times New Roman"/>
                <a:cs typeface="Times New Roman"/>
              </a:rPr>
              <a:t>Project</a:t>
            </a:r>
            <a:r>
              <a:rPr sz="2400" b="1" spc="-135" dirty="0">
                <a:solidFill>
                  <a:srgbClr val="00487E"/>
                </a:solidFill>
                <a:latin typeface="Times New Roman"/>
                <a:cs typeface="Times New Roman"/>
              </a:rPr>
              <a:t> </a:t>
            </a:r>
            <a:r>
              <a:rPr sz="2400" b="1" dirty="0">
                <a:solidFill>
                  <a:srgbClr val="00487E"/>
                </a:solidFill>
                <a:latin typeface="Times New Roman"/>
                <a:cs typeface="Times New Roman"/>
              </a:rPr>
              <a:t>Work</a:t>
            </a:r>
            <a:r>
              <a:rPr sz="2400" b="1" spc="-100" dirty="0">
                <a:solidFill>
                  <a:srgbClr val="00487E"/>
                </a:solidFill>
                <a:latin typeface="Times New Roman"/>
                <a:cs typeface="Times New Roman"/>
              </a:rPr>
              <a:t> </a:t>
            </a:r>
            <a:r>
              <a:rPr sz="2400" b="1" spc="-50" dirty="0">
                <a:solidFill>
                  <a:srgbClr val="00487E"/>
                </a:solidFill>
                <a:latin typeface="Times New Roman"/>
                <a:cs typeface="Times New Roman"/>
              </a:rPr>
              <a:t>1 </a:t>
            </a:r>
            <a:r>
              <a:rPr sz="2000" b="1" dirty="0">
                <a:solidFill>
                  <a:srgbClr val="00487E"/>
                </a:solidFill>
                <a:latin typeface="Times New Roman"/>
                <a:cs typeface="Times New Roman"/>
              </a:rPr>
              <a:t>Course</a:t>
            </a:r>
            <a:r>
              <a:rPr sz="2000" b="1" spc="-95" dirty="0">
                <a:solidFill>
                  <a:srgbClr val="00487E"/>
                </a:solidFill>
                <a:latin typeface="Times New Roman"/>
                <a:cs typeface="Times New Roman"/>
              </a:rPr>
              <a:t> </a:t>
            </a:r>
            <a:r>
              <a:rPr sz="2000" b="1" spc="-10" dirty="0">
                <a:solidFill>
                  <a:srgbClr val="00487E"/>
                </a:solidFill>
                <a:latin typeface="Times New Roman"/>
                <a:cs typeface="Times New Roman"/>
              </a:rPr>
              <a:t>Code:24AM6PWPW1 </a:t>
            </a:r>
            <a:r>
              <a:rPr sz="2400" b="1" dirty="0">
                <a:solidFill>
                  <a:srgbClr val="00487E"/>
                </a:solidFill>
                <a:latin typeface="Times New Roman"/>
                <a:cs typeface="Times New Roman"/>
              </a:rPr>
              <a:t>Project</a:t>
            </a:r>
            <a:r>
              <a:rPr sz="2400" b="1" spc="-100" dirty="0">
                <a:solidFill>
                  <a:srgbClr val="00487E"/>
                </a:solidFill>
                <a:latin typeface="Times New Roman"/>
                <a:cs typeface="Times New Roman"/>
              </a:rPr>
              <a:t> </a:t>
            </a:r>
            <a:r>
              <a:rPr sz="2400" b="1" spc="-20" dirty="0">
                <a:solidFill>
                  <a:srgbClr val="00487E"/>
                </a:solidFill>
                <a:latin typeface="Times New Roman"/>
                <a:cs typeface="Times New Roman"/>
              </a:rPr>
              <a:t>Title</a:t>
            </a:r>
            <a:endParaRPr sz="2400">
              <a:latin typeface="Times New Roman"/>
              <a:cs typeface="Times New Roman"/>
            </a:endParaRPr>
          </a:p>
          <a:p>
            <a:pPr>
              <a:lnSpc>
                <a:spcPct val="100000"/>
              </a:lnSpc>
              <a:spcBef>
                <a:spcPts val="2600"/>
              </a:spcBef>
            </a:pPr>
            <a:endParaRPr sz="2400">
              <a:latin typeface="Times New Roman"/>
              <a:cs typeface="Times New Roman"/>
            </a:endParaRPr>
          </a:p>
          <a:p>
            <a:pPr marR="10160" algn="ctr">
              <a:lnSpc>
                <a:spcPct val="100000"/>
              </a:lnSpc>
            </a:pPr>
            <a:r>
              <a:rPr sz="2000" b="1" dirty="0">
                <a:solidFill>
                  <a:srgbClr val="7030A0"/>
                </a:solidFill>
                <a:latin typeface="Times New Roman"/>
                <a:cs typeface="Times New Roman"/>
              </a:rPr>
              <a:t>Review</a:t>
            </a:r>
            <a:r>
              <a:rPr sz="2000" b="1" spc="-50" dirty="0">
                <a:solidFill>
                  <a:srgbClr val="7030A0"/>
                </a:solidFill>
                <a:latin typeface="Times New Roman"/>
                <a:cs typeface="Times New Roman"/>
              </a:rPr>
              <a:t> </a:t>
            </a:r>
            <a:r>
              <a:rPr sz="2000" b="1" dirty="0">
                <a:solidFill>
                  <a:srgbClr val="7030A0"/>
                </a:solidFill>
                <a:latin typeface="Times New Roman"/>
                <a:cs typeface="Times New Roman"/>
              </a:rPr>
              <a:t>-</a:t>
            </a:r>
            <a:r>
              <a:rPr sz="2000" b="1" spc="-45" dirty="0">
                <a:solidFill>
                  <a:srgbClr val="7030A0"/>
                </a:solidFill>
                <a:latin typeface="Times New Roman"/>
                <a:cs typeface="Times New Roman"/>
              </a:rPr>
              <a:t> </a:t>
            </a:r>
            <a:r>
              <a:rPr sz="2000" b="1" spc="-50" dirty="0">
                <a:solidFill>
                  <a:srgbClr val="7030A0"/>
                </a:solidFill>
                <a:latin typeface="Times New Roman"/>
                <a:cs typeface="Times New Roman"/>
              </a:rPr>
              <a:t>1</a:t>
            </a:r>
            <a:endParaRPr sz="2000">
              <a:latin typeface="Times New Roman"/>
              <a:cs typeface="Times New Roman"/>
            </a:endParaRPr>
          </a:p>
        </p:txBody>
      </p:sp>
      <p:pic>
        <p:nvPicPr>
          <p:cNvPr id="4" name="object 4"/>
          <p:cNvPicPr/>
          <p:nvPr/>
        </p:nvPicPr>
        <p:blipFill>
          <a:blip r:embed="rId2" cstate="print"/>
          <a:stretch>
            <a:fillRect/>
          </a:stretch>
        </p:blipFill>
        <p:spPr>
          <a:xfrm>
            <a:off x="5762625" y="115975"/>
            <a:ext cx="665097" cy="658897"/>
          </a:xfrm>
          <a:prstGeom prst="rect">
            <a:avLst/>
          </a:prstGeom>
        </p:spPr>
      </p:pic>
      <p:sp>
        <p:nvSpPr>
          <p:cNvPr id="5" name="object 5"/>
          <p:cNvSpPr txBox="1"/>
          <p:nvPr/>
        </p:nvSpPr>
        <p:spPr>
          <a:xfrm>
            <a:off x="8700557" y="5203166"/>
            <a:ext cx="2067560" cy="78867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Times New Roman"/>
                <a:cs typeface="Times New Roman"/>
              </a:rPr>
              <a:t>[Type</a:t>
            </a:r>
            <a:r>
              <a:rPr sz="1400" b="1" spc="-30" dirty="0">
                <a:latin typeface="Times New Roman"/>
                <a:cs typeface="Times New Roman"/>
              </a:rPr>
              <a:t> </a:t>
            </a:r>
            <a:r>
              <a:rPr sz="1400" b="1" dirty="0">
                <a:latin typeface="Times New Roman"/>
                <a:cs typeface="Times New Roman"/>
              </a:rPr>
              <a:t>guide</a:t>
            </a:r>
            <a:r>
              <a:rPr sz="1400" b="1" spc="-25" dirty="0">
                <a:latin typeface="Times New Roman"/>
                <a:cs typeface="Times New Roman"/>
              </a:rPr>
              <a:t> </a:t>
            </a:r>
            <a:r>
              <a:rPr sz="1400" b="1" dirty="0">
                <a:latin typeface="Times New Roman"/>
                <a:cs typeface="Times New Roman"/>
              </a:rPr>
              <a:t>name</a:t>
            </a:r>
            <a:r>
              <a:rPr sz="1400" b="1" spc="-25" dirty="0">
                <a:latin typeface="Times New Roman"/>
                <a:cs typeface="Times New Roman"/>
              </a:rPr>
              <a:t> </a:t>
            </a:r>
            <a:r>
              <a:rPr sz="1400" b="1" spc="-10" dirty="0">
                <a:latin typeface="Times New Roman"/>
                <a:cs typeface="Times New Roman"/>
              </a:rPr>
              <a:t>here]</a:t>
            </a:r>
            <a:endParaRPr sz="1400">
              <a:latin typeface="Times New Roman"/>
              <a:cs typeface="Times New Roman"/>
            </a:endParaRPr>
          </a:p>
          <a:p>
            <a:pPr marL="12700">
              <a:lnSpc>
                <a:spcPct val="100000"/>
              </a:lnSpc>
              <a:spcBef>
                <a:spcPts val="5"/>
              </a:spcBef>
            </a:pPr>
            <a:r>
              <a:rPr sz="1200" spc="-10" dirty="0">
                <a:latin typeface="Times New Roman"/>
                <a:cs typeface="Times New Roman"/>
              </a:rPr>
              <a:t>Designation</a:t>
            </a:r>
            <a:endParaRPr sz="1200">
              <a:latin typeface="Times New Roman"/>
              <a:cs typeface="Times New Roman"/>
            </a:endParaRPr>
          </a:p>
          <a:p>
            <a:pPr marL="12700">
              <a:lnSpc>
                <a:spcPct val="100000"/>
              </a:lnSpc>
            </a:pPr>
            <a:r>
              <a:rPr sz="1200" spc="-10" dirty="0">
                <a:latin typeface="Times New Roman"/>
                <a:cs typeface="Times New Roman"/>
              </a:rPr>
              <a:t>Department </a:t>
            </a:r>
            <a:r>
              <a:rPr sz="1200" dirty="0">
                <a:latin typeface="Times New Roman"/>
                <a:cs typeface="Times New Roman"/>
              </a:rPr>
              <a:t>of</a:t>
            </a:r>
            <a:r>
              <a:rPr sz="1200" spc="-5" dirty="0">
                <a:latin typeface="Times New Roman"/>
                <a:cs typeface="Times New Roman"/>
              </a:rPr>
              <a:t> </a:t>
            </a:r>
            <a:r>
              <a:rPr sz="1200" spc="-10" dirty="0">
                <a:latin typeface="Times New Roman"/>
                <a:cs typeface="Times New Roman"/>
              </a:rPr>
              <a:t>Machine Learning</a:t>
            </a:r>
            <a:endParaRPr sz="1200">
              <a:latin typeface="Times New Roman"/>
              <a:cs typeface="Times New Roman"/>
            </a:endParaRPr>
          </a:p>
          <a:p>
            <a:pPr marL="12700">
              <a:lnSpc>
                <a:spcPct val="100000"/>
              </a:lnSpc>
            </a:pPr>
            <a:r>
              <a:rPr sz="1200" dirty="0">
                <a:latin typeface="Times New Roman"/>
                <a:cs typeface="Times New Roman"/>
              </a:rPr>
              <a:t>B.M.S.</a:t>
            </a:r>
            <a:r>
              <a:rPr sz="1200" spc="-30" dirty="0">
                <a:latin typeface="Times New Roman"/>
                <a:cs typeface="Times New Roman"/>
              </a:rPr>
              <a:t> </a:t>
            </a:r>
            <a:r>
              <a:rPr sz="1200" dirty="0">
                <a:latin typeface="Times New Roman"/>
                <a:cs typeface="Times New Roman"/>
              </a:rPr>
              <a:t>College</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spc="-10" dirty="0">
                <a:latin typeface="Times New Roman"/>
                <a:cs typeface="Times New Roman"/>
              </a:rPr>
              <a:t>Engineering</a:t>
            </a:r>
            <a:endParaRPr sz="1200">
              <a:latin typeface="Times New Roman"/>
              <a:cs typeface="Times New Roman"/>
            </a:endParaRPr>
          </a:p>
        </p:txBody>
      </p:sp>
      <p:sp>
        <p:nvSpPr>
          <p:cNvPr id="6" name="object 6"/>
          <p:cNvSpPr txBox="1"/>
          <p:nvPr/>
        </p:nvSpPr>
        <p:spPr>
          <a:xfrm>
            <a:off x="1051982" y="4993513"/>
            <a:ext cx="1036319" cy="847725"/>
          </a:xfrm>
          <a:prstGeom prst="rect">
            <a:avLst/>
          </a:prstGeom>
        </p:spPr>
        <p:txBody>
          <a:bodyPr vert="horz" wrap="square" lIns="0" tIns="12700" rIns="0" bIns="0" rtlCol="0">
            <a:spAutoFit/>
          </a:bodyPr>
          <a:lstStyle/>
          <a:p>
            <a:pPr marL="12700" marR="5080">
              <a:lnSpc>
                <a:spcPct val="100000"/>
              </a:lnSpc>
              <a:spcBef>
                <a:spcPts val="100"/>
              </a:spcBef>
            </a:pPr>
            <a:r>
              <a:rPr sz="1200" b="1" spc="-10" dirty="0">
                <a:latin typeface="Times New Roman"/>
                <a:cs typeface="Times New Roman"/>
              </a:rPr>
              <a:t>Presented</a:t>
            </a:r>
            <a:r>
              <a:rPr sz="1200" b="1" spc="-30" dirty="0">
                <a:latin typeface="Times New Roman"/>
                <a:cs typeface="Times New Roman"/>
              </a:rPr>
              <a:t> </a:t>
            </a:r>
            <a:r>
              <a:rPr sz="1200" b="1" spc="-25" dirty="0">
                <a:latin typeface="Times New Roman"/>
                <a:cs typeface="Times New Roman"/>
              </a:rPr>
              <a:t>By, </a:t>
            </a:r>
            <a:r>
              <a:rPr sz="1400" dirty="0">
                <a:latin typeface="Times New Roman"/>
                <a:cs typeface="Times New Roman"/>
              </a:rPr>
              <a:t>Student</a:t>
            </a:r>
            <a:r>
              <a:rPr sz="1400" spc="-35" dirty="0">
                <a:latin typeface="Times New Roman"/>
                <a:cs typeface="Times New Roman"/>
              </a:rPr>
              <a:t> </a:t>
            </a:r>
            <a:r>
              <a:rPr sz="1400" spc="-20" dirty="0">
                <a:latin typeface="Times New Roman"/>
                <a:cs typeface="Times New Roman"/>
              </a:rPr>
              <a:t>Name </a:t>
            </a:r>
            <a:r>
              <a:rPr sz="1400" dirty="0">
                <a:latin typeface="Times New Roman"/>
                <a:cs typeface="Times New Roman"/>
              </a:rPr>
              <a:t>Student</a:t>
            </a:r>
            <a:r>
              <a:rPr sz="1400" spc="-35" dirty="0">
                <a:latin typeface="Times New Roman"/>
                <a:cs typeface="Times New Roman"/>
              </a:rPr>
              <a:t> </a:t>
            </a:r>
            <a:r>
              <a:rPr sz="1400" spc="-20" dirty="0">
                <a:latin typeface="Times New Roman"/>
                <a:cs typeface="Times New Roman"/>
              </a:rPr>
              <a:t>Name </a:t>
            </a:r>
            <a:r>
              <a:rPr sz="1400" dirty="0">
                <a:latin typeface="Times New Roman"/>
                <a:cs typeface="Times New Roman"/>
              </a:rPr>
              <a:t>Student</a:t>
            </a:r>
            <a:r>
              <a:rPr sz="1400" spc="-35" dirty="0">
                <a:latin typeface="Times New Roman"/>
                <a:cs typeface="Times New Roman"/>
              </a:rPr>
              <a:t> </a:t>
            </a:r>
            <a:r>
              <a:rPr sz="1400" spc="-20" dirty="0">
                <a:latin typeface="Times New Roman"/>
                <a:cs typeface="Times New Roman"/>
              </a:rPr>
              <a:t>Name</a:t>
            </a:r>
            <a:endParaRPr sz="1400">
              <a:latin typeface="Times New Roman"/>
              <a:cs typeface="Times New Roman"/>
            </a:endParaRPr>
          </a:p>
        </p:txBody>
      </p:sp>
      <p:sp>
        <p:nvSpPr>
          <p:cNvPr id="7" name="object 7"/>
          <p:cNvSpPr txBox="1"/>
          <p:nvPr/>
        </p:nvSpPr>
        <p:spPr>
          <a:xfrm>
            <a:off x="3707272" y="5175377"/>
            <a:ext cx="381000" cy="665480"/>
          </a:xfrm>
          <a:prstGeom prst="rect">
            <a:avLst/>
          </a:prstGeom>
        </p:spPr>
        <p:txBody>
          <a:bodyPr vert="horz" wrap="square" lIns="0" tIns="12700" rIns="0" bIns="0" rtlCol="0">
            <a:spAutoFit/>
          </a:bodyPr>
          <a:lstStyle/>
          <a:p>
            <a:pPr marL="12700" marR="5080" algn="just">
              <a:lnSpc>
                <a:spcPct val="100000"/>
              </a:lnSpc>
              <a:spcBef>
                <a:spcPts val="100"/>
              </a:spcBef>
            </a:pPr>
            <a:r>
              <a:rPr sz="1400" spc="-25" dirty="0">
                <a:latin typeface="Times New Roman"/>
                <a:cs typeface="Times New Roman"/>
              </a:rPr>
              <a:t>USN USN USN</a:t>
            </a:r>
            <a:endParaRPr sz="1400">
              <a:latin typeface="Times New Roman"/>
              <a:cs typeface="Times New Roman"/>
            </a:endParaRPr>
          </a:p>
        </p:txBody>
      </p:sp>
      <p:sp>
        <p:nvSpPr>
          <p:cNvPr id="8" name="object 8"/>
          <p:cNvSpPr txBox="1"/>
          <p:nvPr/>
        </p:nvSpPr>
        <p:spPr>
          <a:xfrm>
            <a:off x="1051982" y="6029833"/>
            <a:ext cx="1277620" cy="421005"/>
          </a:xfrm>
          <a:prstGeom prst="rect">
            <a:avLst/>
          </a:prstGeom>
        </p:spPr>
        <p:txBody>
          <a:bodyPr vert="horz" wrap="square" lIns="0" tIns="12700" rIns="0" bIns="0" rtlCol="0">
            <a:spAutoFit/>
          </a:bodyPr>
          <a:lstStyle/>
          <a:p>
            <a:pPr marL="12700">
              <a:lnSpc>
                <a:spcPts val="1435"/>
              </a:lnSpc>
              <a:spcBef>
                <a:spcPts val="100"/>
              </a:spcBef>
            </a:pPr>
            <a:r>
              <a:rPr sz="1200" dirty="0">
                <a:latin typeface="Times New Roman"/>
                <a:cs typeface="Times New Roman"/>
              </a:rPr>
              <a:t>Semester</a:t>
            </a:r>
            <a:r>
              <a:rPr sz="1200" spc="-30" dirty="0">
                <a:latin typeface="Times New Roman"/>
                <a:cs typeface="Times New Roman"/>
              </a:rPr>
              <a:t> </a:t>
            </a:r>
            <a:r>
              <a:rPr sz="1200" dirty="0">
                <a:latin typeface="Times New Roman"/>
                <a:cs typeface="Times New Roman"/>
              </a:rPr>
              <a:t>&amp;</a:t>
            </a:r>
            <a:r>
              <a:rPr sz="1200" spc="-30" dirty="0">
                <a:latin typeface="Times New Roman"/>
                <a:cs typeface="Times New Roman"/>
              </a:rPr>
              <a:t> </a:t>
            </a:r>
            <a:r>
              <a:rPr sz="1200" spc="-10" dirty="0">
                <a:latin typeface="Times New Roman"/>
                <a:cs typeface="Times New Roman"/>
              </a:rPr>
              <a:t>Section:</a:t>
            </a:r>
            <a:endParaRPr sz="1200">
              <a:latin typeface="Times New Roman"/>
              <a:cs typeface="Times New Roman"/>
            </a:endParaRPr>
          </a:p>
          <a:p>
            <a:pPr marL="12700">
              <a:lnSpc>
                <a:spcPts val="1675"/>
              </a:lnSpc>
            </a:pPr>
            <a:r>
              <a:rPr sz="1400" spc="-10" dirty="0">
                <a:latin typeface="Times New Roman"/>
                <a:cs typeface="Times New Roman"/>
              </a:rPr>
              <a:t>Date:</a:t>
            </a:r>
            <a:endParaRPr sz="1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7725" y="24215"/>
            <a:ext cx="1760855" cy="695960"/>
          </a:xfrm>
          <a:prstGeom prst="rect">
            <a:avLst/>
          </a:prstGeom>
        </p:spPr>
        <p:txBody>
          <a:bodyPr vert="horz" wrap="square" lIns="0" tIns="12700" rIns="0" bIns="0" rtlCol="0">
            <a:spAutoFit/>
          </a:bodyPr>
          <a:lstStyle/>
          <a:p>
            <a:pPr marL="12700">
              <a:lnSpc>
                <a:spcPct val="100000"/>
              </a:lnSpc>
              <a:spcBef>
                <a:spcPts val="100"/>
              </a:spcBef>
            </a:pPr>
            <a:r>
              <a:rPr sz="4400" spc="-10" dirty="0">
                <a:solidFill>
                  <a:srgbClr val="C00000"/>
                </a:solidFill>
              </a:rPr>
              <a:t>Agenda</a:t>
            </a:r>
            <a:endParaRPr sz="4400"/>
          </a:p>
        </p:txBody>
      </p:sp>
      <p:sp>
        <p:nvSpPr>
          <p:cNvPr id="3" name="object 3"/>
          <p:cNvSpPr txBox="1"/>
          <p:nvPr/>
        </p:nvSpPr>
        <p:spPr>
          <a:xfrm>
            <a:off x="780770" y="956267"/>
            <a:ext cx="3271520" cy="3439160"/>
          </a:xfrm>
          <a:prstGeom prst="rect">
            <a:avLst/>
          </a:prstGeom>
        </p:spPr>
        <p:txBody>
          <a:bodyPr vert="horz" wrap="square" lIns="0" tIns="12700" rIns="0" bIns="0" rtlCol="0">
            <a:spAutoFit/>
          </a:bodyPr>
          <a:lstStyle/>
          <a:p>
            <a:pPr marL="415925" indent="-403225">
              <a:lnSpc>
                <a:spcPct val="100000"/>
              </a:lnSpc>
              <a:spcBef>
                <a:spcPts val="100"/>
              </a:spcBef>
              <a:buFont typeface="Arial MT"/>
              <a:buChar char="•"/>
              <a:tabLst>
                <a:tab pos="415925" algn="l"/>
              </a:tabLst>
            </a:pPr>
            <a:r>
              <a:rPr sz="2800" spc="-10" dirty="0">
                <a:latin typeface="Times New Roman"/>
                <a:cs typeface="Times New Roman"/>
              </a:rPr>
              <a:t>Introduction</a:t>
            </a:r>
            <a:endParaRPr sz="2800" dirty="0">
              <a:latin typeface="Times New Roman"/>
              <a:cs typeface="Times New Roman"/>
            </a:endParaRPr>
          </a:p>
          <a:p>
            <a:pPr marL="415925" indent="-403225">
              <a:lnSpc>
                <a:spcPct val="100000"/>
              </a:lnSpc>
              <a:buFont typeface="Arial MT"/>
              <a:buChar char="•"/>
              <a:tabLst>
                <a:tab pos="415925" algn="l"/>
              </a:tabLst>
            </a:pPr>
            <a:r>
              <a:rPr sz="2800" dirty="0">
                <a:latin typeface="Times New Roman"/>
                <a:cs typeface="Times New Roman"/>
              </a:rPr>
              <a:t>Literature</a:t>
            </a:r>
            <a:r>
              <a:rPr sz="2800" spc="-50" dirty="0">
                <a:latin typeface="Times New Roman"/>
                <a:cs typeface="Times New Roman"/>
              </a:rPr>
              <a:t> </a:t>
            </a:r>
            <a:r>
              <a:rPr sz="2800" spc="-10" dirty="0">
                <a:latin typeface="Times New Roman"/>
                <a:cs typeface="Times New Roman"/>
              </a:rPr>
              <a:t>survey</a:t>
            </a:r>
            <a:endParaRPr sz="2800" dirty="0">
              <a:latin typeface="Times New Roman"/>
              <a:cs typeface="Times New Roman"/>
            </a:endParaRPr>
          </a:p>
          <a:p>
            <a:pPr marL="415925" indent="-403225">
              <a:lnSpc>
                <a:spcPct val="100000"/>
              </a:lnSpc>
              <a:buFont typeface="Arial MT"/>
              <a:buChar char="•"/>
              <a:tabLst>
                <a:tab pos="41592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15925" lvl="1" indent="-352425">
              <a:lnSpc>
                <a:spcPct val="100000"/>
              </a:lnSpc>
              <a:buChar char="•"/>
              <a:tabLst>
                <a:tab pos="415925" algn="l"/>
              </a:tabLst>
            </a:pPr>
            <a:r>
              <a:rPr sz="2800" dirty="0">
                <a:latin typeface="Times New Roman"/>
                <a:cs typeface="Times New Roman"/>
              </a:rPr>
              <a:t>Scope</a:t>
            </a:r>
            <a:r>
              <a:rPr sz="2800" spc="-15" dirty="0">
                <a:latin typeface="Times New Roman"/>
                <a:cs typeface="Times New Roman"/>
              </a:rPr>
              <a:t> </a:t>
            </a:r>
            <a:r>
              <a:rPr sz="2800" dirty="0">
                <a:latin typeface="Times New Roman"/>
                <a:cs typeface="Times New Roman"/>
              </a:rPr>
              <a:t>&amp;</a:t>
            </a:r>
            <a:r>
              <a:rPr sz="2800" spc="-1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15925" indent="-403225">
              <a:lnSpc>
                <a:spcPct val="100000"/>
              </a:lnSpc>
              <a:buFont typeface="Arial MT"/>
              <a:buChar char="•"/>
              <a:tabLst>
                <a:tab pos="415925" algn="l"/>
              </a:tabLst>
            </a:pPr>
            <a:r>
              <a:rPr sz="2800" dirty="0">
                <a:latin typeface="Times New Roman"/>
                <a:cs typeface="Times New Roman"/>
              </a:rPr>
              <a:t>Existing </a:t>
            </a:r>
            <a:r>
              <a:rPr sz="2800" spc="-10" dirty="0">
                <a:latin typeface="Times New Roman"/>
                <a:cs typeface="Times New Roman"/>
              </a:rPr>
              <a:t>system</a:t>
            </a:r>
            <a:endParaRPr sz="2800" dirty="0">
              <a:latin typeface="Times New Roman"/>
              <a:cs typeface="Times New Roman"/>
            </a:endParaRPr>
          </a:p>
          <a:p>
            <a:pPr marL="415925" indent="-403225">
              <a:lnSpc>
                <a:spcPct val="100000"/>
              </a:lnSpc>
              <a:buFont typeface="Arial MT"/>
              <a:buChar char="•"/>
              <a:tabLst>
                <a:tab pos="415925" algn="l"/>
              </a:tabLst>
            </a:pPr>
            <a:r>
              <a:rPr sz="2800" dirty="0">
                <a:latin typeface="Times New Roman"/>
                <a:cs typeface="Times New Roman"/>
              </a:rPr>
              <a:t>Proposed</a:t>
            </a:r>
            <a:r>
              <a:rPr sz="2800" spc="-105"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15925" indent="-403225">
              <a:lnSpc>
                <a:spcPct val="100000"/>
              </a:lnSpc>
              <a:buFont typeface="Arial MT"/>
              <a:buChar char="•"/>
              <a:tabLst>
                <a:tab pos="415925" algn="l"/>
              </a:tabLst>
            </a:pPr>
            <a:r>
              <a:rPr sz="2800" spc="-10" dirty="0">
                <a:latin typeface="Times New Roman"/>
                <a:cs typeface="Times New Roman"/>
              </a:rPr>
              <a:t>Conclusion</a:t>
            </a:r>
            <a:endParaRPr sz="2800" dirty="0">
              <a:latin typeface="Times New Roman"/>
              <a:cs typeface="Times New Roman"/>
            </a:endParaRPr>
          </a:p>
          <a:p>
            <a:pPr marL="415925" indent="-403225">
              <a:lnSpc>
                <a:spcPct val="100000"/>
              </a:lnSpc>
              <a:buChar char="•"/>
              <a:tabLst>
                <a:tab pos="415925" algn="l"/>
              </a:tabLst>
            </a:pPr>
            <a:r>
              <a:rPr sz="2800" spc="-10" dirty="0">
                <a:latin typeface="Times New Roman"/>
                <a:cs typeface="Times New Roman"/>
              </a:rPr>
              <a:t>References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A39761-A0BB-D996-CEE9-7006B1D8FD98}"/>
              </a:ext>
            </a:extLst>
          </p:cNvPr>
          <p:cNvSpPr txBox="1"/>
          <p:nvPr/>
        </p:nvSpPr>
        <p:spPr>
          <a:xfrm>
            <a:off x="152400" y="76200"/>
            <a:ext cx="11734800" cy="3693319"/>
          </a:xfrm>
          <a:prstGeom prst="rect">
            <a:avLst/>
          </a:prstGeom>
          <a:noFill/>
        </p:spPr>
        <p:txBody>
          <a:bodyPr wrap="square" rtlCol="0">
            <a:spAutoFit/>
          </a:bodyPr>
          <a:lstStyle/>
          <a:p>
            <a:r>
              <a:rPr lang="en-US" dirty="0"/>
              <a:t>Introduction</a:t>
            </a:r>
          </a:p>
          <a:p>
            <a:r>
              <a:rPr lang="en-US" dirty="0"/>
              <a:t>Artificial Intelligence and Large Language Models (LLMs) are transforming how users interact with digital information. Traditional document search methods require users to manually read large documents to find relevant information. This process is time-consuming and inefficient.</a:t>
            </a:r>
          </a:p>
          <a:p>
            <a:endParaRPr lang="en-US" dirty="0"/>
          </a:p>
          <a:p>
            <a:r>
              <a:rPr lang="en-US" dirty="0"/>
              <a:t>Retrieval-Augmented Generation (RAG) combines information retrieval with generative AI models to provide accurate answers from documents. By retrieving relevant information from a document and passing it to a language model, the system generates precise responses to user queries.</a:t>
            </a:r>
          </a:p>
          <a:p>
            <a:endParaRPr lang="en-US" dirty="0"/>
          </a:p>
          <a:p>
            <a:r>
              <a:rPr lang="en-US" dirty="0"/>
              <a:t>This project proposes an </a:t>
            </a:r>
            <a:r>
              <a:rPr lang="en-US" b="1" dirty="0"/>
              <a:t>offline document question-answering system</a:t>
            </a:r>
            <a:r>
              <a:rPr lang="en-US" dirty="0"/>
              <a:t> that allows users to upload documents such as </a:t>
            </a:r>
            <a:r>
              <a:rPr lang="en-US" b="1" dirty="0"/>
              <a:t>PDF and PowerPoint files</a:t>
            </a:r>
            <a:r>
              <a:rPr lang="en-US" dirty="0"/>
              <a:t> and interact with them using natural language queries. The system uses </a:t>
            </a:r>
            <a:r>
              <a:rPr lang="en-US" b="1" dirty="0"/>
              <a:t>FAISS for vector search, </a:t>
            </a:r>
            <a:r>
              <a:rPr lang="en-US" b="1" dirty="0" err="1"/>
              <a:t>HuggingFace</a:t>
            </a:r>
            <a:r>
              <a:rPr lang="en-US" b="1" dirty="0"/>
              <a:t> embeddings for semantic understanding, and a local LLM through Ollama for answer generation</a:t>
            </a:r>
            <a:r>
              <a:rPr lang="en-US" dirty="0"/>
              <a:t>, ensuring privacy and offline functionality.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a:extLst>
              <a:ext uri="{FF2B5EF4-FFF2-40B4-BE49-F238E27FC236}">
                <a16:creationId xmlns:a16="http://schemas.microsoft.com/office/drawing/2014/main" id="{1A7E36BE-DCC4-D6D7-EA63-F536404B4719}"/>
              </a:ext>
            </a:extLst>
          </p:cNvPr>
          <p:cNvSpPr>
            <a:spLocks noChangeArrowheads="1"/>
          </p:cNvSpPr>
          <p:nvPr/>
        </p:nvSpPr>
        <p:spPr bwMode="auto">
          <a:xfrm>
            <a:off x="3527425" y="1327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TextBox 21">
            <a:extLst>
              <a:ext uri="{FF2B5EF4-FFF2-40B4-BE49-F238E27FC236}">
                <a16:creationId xmlns:a16="http://schemas.microsoft.com/office/drawing/2014/main" id="{A0A66D8B-01EE-C9FA-99DB-BB389A9ECAF8}"/>
              </a:ext>
            </a:extLst>
          </p:cNvPr>
          <p:cNvSpPr txBox="1"/>
          <p:nvPr/>
        </p:nvSpPr>
        <p:spPr>
          <a:xfrm>
            <a:off x="304800" y="457200"/>
            <a:ext cx="11049000" cy="646331"/>
          </a:xfrm>
          <a:prstGeom prst="rect">
            <a:avLst/>
          </a:prstGeom>
          <a:noFill/>
        </p:spPr>
        <p:txBody>
          <a:bodyPr wrap="square" rtlCol="0">
            <a:spAutoFit/>
          </a:bodyPr>
          <a:lstStyle/>
          <a:p>
            <a:r>
              <a:rPr lang="en-US" sz="1800" dirty="0">
                <a:latin typeface="Times New Roman"/>
                <a:cs typeface="Times New Roman"/>
              </a:rPr>
              <a:t>Literature</a:t>
            </a:r>
            <a:r>
              <a:rPr lang="en-US" sz="1800" spc="-50" dirty="0">
                <a:latin typeface="Times New Roman"/>
                <a:cs typeface="Times New Roman"/>
              </a:rPr>
              <a:t> </a:t>
            </a:r>
            <a:r>
              <a:rPr lang="en-US" sz="1800" spc="-10" dirty="0">
                <a:latin typeface="Times New Roman"/>
                <a:cs typeface="Times New Roman"/>
              </a:rPr>
              <a:t>survey</a:t>
            </a:r>
            <a:endParaRPr lang="en-US" sz="1800" dirty="0">
              <a:latin typeface="Times New Roman"/>
              <a:cs typeface="Times New Roman"/>
            </a:endParaRPr>
          </a:p>
          <a:p>
            <a:endParaRPr lang="en-US" dirty="0"/>
          </a:p>
        </p:txBody>
      </p:sp>
      <p:graphicFrame>
        <p:nvGraphicFramePr>
          <p:cNvPr id="23" name="Table 22">
            <a:extLst>
              <a:ext uri="{FF2B5EF4-FFF2-40B4-BE49-F238E27FC236}">
                <a16:creationId xmlns:a16="http://schemas.microsoft.com/office/drawing/2014/main" id="{A7922F1B-5B0F-396A-C67F-1DEAC57566C1}"/>
              </a:ext>
            </a:extLst>
          </p:cNvPr>
          <p:cNvGraphicFramePr>
            <a:graphicFrameLocks noGrp="1"/>
          </p:cNvGraphicFramePr>
          <p:nvPr>
            <p:extLst>
              <p:ext uri="{D42A27DB-BD31-4B8C-83A1-F6EECF244321}">
                <p14:modId xmlns:p14="http://schemas.microsoft.com/office/powerpoint/2010/main" val="1197768237"/>
              </p:ext>
            </p:extLst>
          </p:nvPr>
        </p:nvGraphicFramePr>
        <p:xfrm>
          <a:off x="838200" y="1327150"/>
          <a:ext cx="10363200" cy="4912966"/>
        </p:xfrm>
        <a:graphic>
          <a:graphicData uri="http://schemas.openxmlformats.org/drawingml/2006/table">
            <a:tbl>
              <a:tblPr/>
              <a:tblGrid>
                <a:gridCol w="2590800">
                  <a:extLst>
                    <a:ext uri="{9D8B030D-6E8A-4147-A177-3AD203B41FA5}">
                      <a16:colId xmlns:a16="http://schemas.microsoft.com/office/drawing/2014/main" val="1875149282"/>
                    </a:ext>
                  </a:extLst>
                </a:gridCol>
                <a:gridCol w="2590800">
                  <a:extLst>
                    <a:ext uri="{9D8B030D-6E8A-4147-A177-3AD203B41FA5}">
                      <a16:colId xmlns:a16="http://schemas.microsoft.com/office/drawing/2014/main" val="4221685834"/>
                    </a:ext>
                  </a:extLst>
                </a:gridCol>
                <a:gridCol w="2590800">
                  <a:extLst>
                    <a:ext uri="{9D8B030D-6E8A-4147-A177-3AD203B41FA5}">
                      <a16:colId xmlns:a16="http://schemas.microsoft.com/office/drawing/2014/main" val="3676488333"/>
                    </a:ext>
                  </a:extLst>
                </a:gridCol>
                <a:gridCol w="2590800">
                  <a:extLst>
                    <a:ext uri="{9D8B030D-6E8A-4147-A177-3AD203B41FA5}">
                      <a16:colId xmlns:a16="http://schemas.microsoft.com/office/drawing/2014/main" val="3181090637"/>
                    </a:ext>
                  </a:extLst>
                </a:gridCol>
              </a:tblGrid>
              <a:tr h="168733">
                <a:tc>
                  <a:txBody>
                    <a:bodyPr/>
                    <a:lstStyle/>
                    <a:p>
                      <a:pPr>
                        <a:buNone/>
                      </a:pPr>
                      <a:r>
                        <a:rPr lang="en-US" sz="1200"/>
                        <a:t>Paper Title</a:t>
                      </a:r>
                    </a:p>
                  </a:txBody>
                  <a:tcPr marL="15622" marR="15622" marT="7811" marB="7811" anchor="ctr">
                    <a:lnL>
                      <a:noFill/>
                    </a:lnL>
                    <a:lnR>
                      <a:noFill/>
                    </a:lnR>
                    <a:lnT>
                      <a:noFill/>
                    </a:lnT>
                    <a:lnB>
                      <a:noFill/>
                    </a:lnB>
                    <a:noFill/>
                  </a:tcPr>
                </a:tc>
                <a:tc>
                  <a:txBody>
                    <a:bodyPr/>
                    <a:lstStyle/>
                    <a:p>
                      <a:pPr>
                        <a:buNone/>
                      </a:pPr>
                      <a:r>
                        <a:rPr lang="en-US" sz="1200"/>
                        <a:t>Authors &amp; Year</a:t>
                      </a:r>
                    </a:p>
                  </a:txBody>
                  <a:tcPr marL="15622" marR="15622" marT="7811" marB="7811" anchor="ctr">
                    <a:lnL>
                      <a:noFill/>
                    </a:lnL>
                    <a:lnR>
                      <a:noFill/>
                    </a:lnR>
                    <a:lnT>
                      <a:noFill/>
                    </a:lnT>
                    <a:lnB>
                      <a:noFill/>
                    </a:lnB>
                    <a:noFill/>
                  </a:tcPr>
                </a:tc>
                <a:tc>
                  <a:txBody>
                    <a:bodyPr/>
                    <a:lstStyle/>
                    <a:p>
                      <a:pPr>
                        <a:buNone/>
                      </a:pPr>
                      <a:r>
                        <a:rPr lang="en-US" sz="1200"/>
                        <a:t>Approach / Methodology</a:t>
                      </a:r>
                    </a:p>
                  </a:txBody>
                  <a:tcPr marL="15622" marR="15622" marT="7811" marB="7811" anchor="ctr">
                    <a:lnL>
                      <a:noFill/>
                    </a:lnL>
                    <a:lnR>
                      <a:noFill/>
                    </a:lnR>
                    <a:lnT>
                      <a:noFill/>
                    </a:lnT>
                    <a:lnB>
                      <a:noFill/>
                    </a:lnB>
                    <a:noFill/>
                  </a:tcPr>
                </a:tc>
                <a:tc>
                  <a:txBody>
                    <a:bodyPr/>
                    <a:lstStyle/>
                    <a:p>
                      <a:pPr>
                        <a:buNone/>
                      </a:pPr>
                      <a:r>
                        <a:rPr lang="en-US" sz="1200"/>
                        <a:t>Key Limitations / Gaps</a:t>
                      </a:r>
                    </a:p>
                  </a:txBody>
                  <a:tcPr marL="15622" marR="15622" marT="7811" marB="7811" anchor="ctr">
                    <a:lnL>
                      <a:noFill/>
                    </a:lnL>
                    <a:lnR>
                      <a:noFill/>
                    </a:lnR>
                    <a:lnT>
                      <a:noFill/>
                    </a:lnT>
                    <a:lnB>
                      <a:noFill/>
                    </a:lnB>
                    <a:noFill/>
                  </a:tcPr>
                </a:tc>
                <a:extLst>
                  <a:ext uri="{0D108BD9-81ED-4DB2-BD59-A6C34878D82A}">
                    <a16:rowId xmlns:a16="http://schemas.microsoft.com/office/drawing/2014/main" val="1962340063"/>
                  </a:ext>
                </a:extLst>
              </a:tr>
              <a:tr h="1253446">
                <a:tc>
                  <a:txBody>
                    <a:bodyPr/>
                    <a:lstStyle/>
                    <a:p>
                      <a:pPr>
                        <a:buNone/>
                      </a:pPr>
                      <a:r>
                        <a:rPr lang="en-US" sz="1200" b="1" dirty="0" err="1"/>
                        <a:t>VDocRAG</a:t>
                      </a:r>
                      <a:r>
                        <a:rPr lang="en-US" sz="1200" b="1" dirty="0"/>
                        <a:t>: Retrieval-Augmented Generation over Visually-Rich Documents</a:t>
                      </a:r>
                      <a:endParaRPr lang="en-US" sz="1200" dirty="0"/>
                    </a:p>
                  </a:txBody>
                  <a:tcPr marL="15622" marR="15622" marT="7811" marB="7811" anchor="ctr">
                    <a:lnL>
                      <a:noFill/>
                    </a:lnL>
                    <a:lnR>
                      <a:noFill/>
                    </a:lnR>
                    <a:lnT>
                      <a:noFill/>
                    </a:lnT>
                    <a:lnB>
                      <a:noFill/>
                    </a:lnB>
                    <a:noFill/>
                  </a:tcPr>
                </a:tc>
                <a:tc>
                  <a:txBody>
                    <a:bodyPr/>
                    <a:lstStyle/>
                    <a:p>
                      <a:pPr>
                        <a:buNone/>
                      </a:pPr>
                      <a:r>
                        <a:rPr lang="fi-FI" sz="1200"/>
                        <a:t>Ryota Tanaka et al., 2025</a:t>
                      </a:r>
                    </a:p>
                  </a:txBody>
                  <a:tcPr marL="15622" marR="15622" marT="7811" marB="7811" anchor="ctr">
                    <a:lnL>
                      <a:noFill/>
                    </a:lnL>
                    <a:lnR>
                      <a:noFill/>
                    </a:lnR>
                    <a:lnT>
                      <a:noFill/>
                    </a:lnT>
                    <a:lnB>
                      <a:noFill/>
                    </a:lnB>
                    <a:noFill/>
                  </a:tcPr>
                </a:tc>
                <a:tc>
                  <a:txBody>
                    <a:bodyPr/>
                    <a:lstStyle/>
                    <a:p>
                      <a:pPr>
                        <a:buNone/>
                      </a:pPr>
                      <a:r>
                        <a:rPr lang="en-US" sz="1200"/>
                        <a:t>Proposes a RAG framework for question answering over complex documents containing charts, tables, and mixed formats such as PDF and PPTX. Uses vision-language models to retrieve and generate answers.</a:t>
                      </a:r>
                    </a:p>
                  </a:txBody>
                  <a:tcPr marL="15622" marR="15622" marT="7811" marB="7811" anchor="ctr">
                    <a:lnL>
                      <a:noFill/>
                    </a:lnL>
                    <a:lnR>
                      <a:noFill/>
                    </a:lnR>
                    <a:lnT>
                      <a:noFill/>
                    </a:lnT>
                    <a:lnB>
                      <a:noFill/>
                    </a:lnB>
                    <a:noFill/>
                  </a:tcPr>
                </a:tc>
                <a:tc>
                  <a:txBody>
                    <a:bodyPr/>
                    <a:lstStyle/>
                    <a:p>
                      <a:pPr>
                        <a:buNone/>
                      </a:pPr>
                      <a:r>
                        <a:rPr lang="en-US" sz="1200"/>
                        <a:t>High computational requirements and complex multimodal processing pipeline. (</a:t>
                      </a:r>
                      <a:r>
                        <a:rPr lang="en-US" sz="1200">
                          <a:hlinkClick r:id="rId2" tooltip="CVPR 2025 Open Access Repository"/>
                        </a:rPr>
                        <a:t>openaccess.thecvf.com</a:t>
                      </a:r>
                      <a:r>
                        <a:rPr lang="en-US" sz="1200"/>
                        <a:t>)</a:t>
                      </a:r>
                    </a:p>
                  </a:txBody>
                  <a:tcPr marL="15622" marR="15622" marT="7811" marB="7811" anchor="ctr">
                    <a:lnL>
                      <a:noFill/>
                    </a:lnL>
                    <a:lnR>
                      <a:noFill/>
                    </a:lnR>
                    <a:lnT>
                      <a:noFill/>
                    </a:lnT>
                    <a:lnB>
                      <a:noFill/>
                    </a:lnB>
                    <a:noFill/>
                  </a:tcPr>
                </a:tc>
                <a:extLst>
                  <a:ext uri="{0D108BD9-81ED-4DB2-BD59-A6C34878D82A}">
                    <a16:rowId xmlns:a16="http://schemas.microsoft.com/office/drawing/2014/main" val="3305309020"/>
                  </a:ext>
                </a:extLst>
              </a:tr>
              <a:tr h="891875">
                <a:tc>
                  <a:txBody>
                    <a:bodyPr/>
                    <a:lstStyle/>
                    <a:p>
                      <a:pPr>
                        <a:buNone/>
                      </a:pPr>
                      <a:r>
                        <a:rPr lang="en-US" sz="1200" b="1"/>
                        <a:t>PDF Retrieval-Augmented Question Answering</a:t>
                      </a:r>
                      <a:endParaRPr lang="en-US" sz="1200"/>
                    </a:p>
                  </a:txBody>
                  <a:tcPr marL="15622" marR="15622" marT="7811" marB="7811" anchor="ctr">
                    <a:lnL>
                      <a:noFill/>
                    </a:lnL>
                    <a:lnR>
                      <a:noFill/>
                    </a:lnR>
                    <a:lnT>
                      <a:noFill/>
                    </a:lnT>
                    <a:lnB>
                      <a:noFill/>
                    </a:lnB>
                    <a:noFill/>
                  </a:tcPr>
                </a:tc>
                <a:tc>
                  <a:txBody>
                    <a:bodyPr/>
                    <a:lstStyle/>
                    <a:p>
                      <a:pPr>
                        <a:buNone/>
                      </a:pPr>
                      <a:r>
                        <a:rPr lang="en-US" sz="1200"/>
                        <a:t>Thi Thu Uyen Hoang &amp; Viet Anh Nguyen, 2025</a:t>
                      </a:r>
                    </a:p>
                  </a:txBody>
                  <a:tcPr marL="15622" marR="15622" marT="7811" marB="7811" anchor="ctr">
                    <a:lnL>
                      <a:noFill/>
                    </a:lnL>
                    <a:lnR>
                      <a:noFill/>
                    </a:lnR>
                    <a:lnT>
                      <a:noFill/>
                    </a:lnT>
                    <a:lnB>
                      <a:noFill/>
                    </a:lnB>
                    <a:noFill/>
                  </a:tcPr>
                </a:tc>
                <a:tc>
                  <a:txBody>
                    <a:bodyPr/>
                    <a:lstStyle/>
                    <a:p>
                      <a:pPr>
                        <a:buNone/>
                      </a:pPr>
                      <a:r>
                        <a:rPr lang="en-US" sz="1200"/>
                        <a:t>Develops a RAG-based system for extracting information from multimodal PDFs including text, diagrams, and tables using embedding retrieval and LLM generation.</a:t>
                      </a:r>
                    </a:p>
                  </a:txBody>
                  <a:tcPr marL="15622" marR="15622" marT="7811" marB="7811" anchor="ctr">
                    <a:lnL>
                      <a:noFill/>
                    </a:lnL>
                    <a:lnR>
                      <a:noFill/>
                    </a:lnR>
                    <a:lnT>
                      <a:noFill/>
                    </a:lnT>
                    <a:lnB>
                      <a:noFill/>
                    </a:lnB>
                    <a:noFill/>
                  </a:tcPr>
                </a:tc>
                <a:tc>
                  <a:txBody>
                    <a:bodyPr/>
                    <a:lstStyle/>
                    <a:p>
                      <a:pPr>
                        <a:buNone/>
                      </a:pPr>
                      <a:r>
                        <a:rPr lang="en-US" sz="1200"/>
                        <a:t>Requires advanced document parsing and fine-tuning of LLM models for complex PDF content. (</a:t>
                      </a:r>
                      <a:r>
                        <a:rPr lang="en-US" sz="1200">
                          <a:hlinkClick r:id="rId3" tooltip="Paper page - PDF Retrieval Augmented Question Answering"/>
                        </a:rPr>
                        <a:t>Hugging Face</a:t>
                      </a:r>
                      <a:r>
                        <a:rPr lang="en-US" sz="1200"/>
                        <a:t>)</a:t>
                      </a:r>
                    </a:p>
                  </a:txBody>
                  <a:tcPr marL="15622" marR="15622" marT="7811" marB="7811" anchor="ctr">
                    <a:lnL>
                      <a:noFill/>
                    </a:lnL>
                    <a:lnR>
                      <a:noFill/>
                    </a:lnR>
                    <a:lnT>
                      <a:noFill/>
                    </a:lnT>
                    <a:lnB>
                      <a:noFill/>
                    </a:lnB>
                    <a:noFill/>
                  </a:tcPr>
                </a:tc>
                <a:extLst>
                  <a:ext uri="{0D108BD9-81ED-4DB2-BD59-A6C34878D82A}">
                    <a16:rowId xmlns:a16="http://schemas.microsoft.com/office/drawing/2014/main" val="114071375"/>
                  </a:ext>
                </a:extLst>
              </a:tr>
              <a:tr h="891875">
                <a:tc>
                  <a:txBody>
                    <a:bodyPr/>
                    <a:lstStyle/>
                    <a:p>
                      <a:pPr>
                        <a:buNone/>
                      </a:pPr>
                      <a:r>
                        <a:rPr lang="en-US" sz="1200" b="1" dirty="0" err="1"/>
                        <a:t>HybGRAG</a:t>
                      </a:r>
                      <a:r>
                        <a:rPr lang="en-US" sz="1200" b="1" dirty="0"/>
                        <a:t>: Hybrid Retrieval-Augmented Generation on Textual and Relational Knowledge Bases</a:t>
                      </a:r>
                      <a:endParaRPr lang="en-US" sz="1200" dirty="0"/>
                    </a:p>
                  </a:txBody>
                  <a:tcPr marL="15622" marR="15622" marT="7811" marB="7811" anchor="ctr">
                    <a:lnL>
                      <a:noFill/>
                    </a:lnL>
                    <a:lnR>
                      <a:noFill/>
                    </a:lnR>
                    <a:lnT>
                      <a:noFill/>
                    </a:lnT>
                    <a:lnB>
                      <a:noFill/>
                    </a:lnB>
                    <a:noFill/>
                  </a:tcPr>
                </a:tc>
                <a:tc>
                  <a:txBody>
                    <a:bodyPr/>
                    <a:lstStyle/>
                    <a:p>
                      <a:pPr>
                        <a:buNone/>
                      </a:pPr>
                      <a:r>
                        <a:rPr lang="en-US" sz="1200"/>
                        <a:t>Chen et al., 2025</a:t>
                      </a:r>
                    </a:p>
                  </a:txBody>
                  <a:tcPr marL="15622" marR="15622" marT="7811" marB="7811" anchor="ctr">
                    <a:lnL>
                      <a:noFill/>
                    </a:lnL>
                    <a:lnR>
                      <a:noFill/>
                    </a:lnR>
                    <a:lnT>
                      <a:noFill/>
                    </a:lnT>
                    <a:lnB>
                      <a:noFill/>
                    </a:lnB>
                    <a:noFill/>
                  </a:tcPr>
                </a:tc>
                <a:tc>
                  <a:txBody>
                    <a:bodyPr/>
                    <a:lstStyle/>
                    <a:p>
                      <a:pPr>
                        <a:buNone/>
                      </a:pPr>
                      <a:r>
                        <a:rPr lang="en-US" sz="1200"/>
                        <a:t>Introduces a hybrid RAG architecture combining document retrieval and structured knowledge base retrieval for answering complex questions.</a:t>
                      </a:r>
                    </a:p>
                  </a:txBody>
                  <a:tcPr marL="15622" marR="15622" marT="7811" marB="7811" anchor="ctr">
                    <a:lnL>
                      <a:noFill/>
                    </a:lnL>
                    <a:lnR>
                      <a:noFill/>
                    </a:lnR>
                    <a:lnT>
                      <a:noFill/>
                    </a:lnT>
                    <a:lnB>
                      <a:noFill/>
                    </a:lnB>
                    <a:noFill/>
                  </a:tcPr>
                </a:tc>
                <a:tc>
                  <a:txBody>
                    <a:bodyPr/>
                    <a:lstStyle/>
                    <a:p>
                      <a:pPr>
                        <a:buNone/>
                      </a:pPr>
                      <a:r>
                        <a:rPr lang="en-US" sz="1200"/>
                        <a:t>Architecture complexity and increased computation due to multiple retrieval pipelines. (</a:t>
                      </a:r>
                      <a:r>
                        <a:rPr lang="en-US" sz="1200">
                          <a:hlinkClick r:id="rId4" tooltip="HybGRAG: Hybrid Retrieval-Augmented Generation on Textual and Relational Knowledge Bases - ACL Anthology"/>
                        </a:rPr>
                        <a:t>ACL Anthology</a:t>
                      </a:r>
                      <a:r>
                        <a:rPr lang="en-US" sz="1200"/>
                        <a:t>)</a:t>
                      </a:r>
                    </a:p>
                  </a:txBody>
                  <a:tcPr marL="15622" marR="15622" marT="7811" marB="7811" anchor="ctr">
                    <a:lnL>
                      <a:noFill/>
                    </a:lnL>
                    <a:lnR>
                      <a:noFill/>
                    </a:lnR>
                    <a:lnT>
                      <a:noFill/>
                    </a:lnT>
                    <a:lnB>
                      <a:noFill/>
                    </a:lnB>
                    <a:noFill/>
                  </a:tcPr>
                </a:tc>
                <a:extLst>
                  <a:ext uri="{0D108BD9-81ED-4DB2-BD59-A6C34878D82A}">
                    <a16:rowId xmlns:a16="http://schemas.microsoft.com/office/drawing/2014/main" val="1521187526"/>
                  </a:ext>
                </a:extLst>
              </a:tr>
              <a:tr h="891875">
                <a:tc>
                  <a:txBody>
                    <a:bodyPr/>
                    <a:lstStyle/>
                    <a:p>
                      <a:pPr>
                        <a:buNone/>
                      </a:pPr>
                      <a:r>
                        <a:rPr lang="en-US" sz="1200" b="1"/>
                        <a:t>RAG²: Rationale-Guided Retrieval Augmented Generation for Medical Question Answering</a:t>
                      </a:r>
                      <a:endParaRPr lang="en-US" sz="1200"/>
                    </a:p>
                  </a:txBody>
                  <a:tcPr marL="15622" marR="15622" marT="7811" marB="7811" anchor="ctr">
                    <a:lnL>
                      <a:noFill/>
                    </a:lnL>
                    <a:lnR>
                      <a:noFill/>
                    </a:lnR>
                    <a:lnT>
                      <a:noFill/>
                    </a:lnT>
                    <a:lnB>
                      <a:noFill/>
                    </a:lnB>
                    <a:noFill/>
                  </a:tcPr>
                </a:tc>
                <a:tc>
                  <a:txBody>
                    <a:bodyPr/>
                    <a:lstStyle/>
                    <a:p>
                      <a:pPr>
                        <a:buNone/>
                      </a:pPr>
                      <a:r>
                        <a:rPr lang="en-US" sz="1200"/>
                        <a:t>Sohn et al., 2025</a:t>
                      </a:r>
                    </a:p>
                  </a:txBody>
                  <a:tcPr marL="15622" marR="15622" marT="7811" marB="7811" anchor="ctr">
                    <a:lnL>
                      <a:noFill/>
                    </a:lnL>
                    <a:lnR>
                      <a:noFill/>
                    </a:lnR>
                    <a:lnT>
                      <a:noFill/>
                    </a:lnT>
                    <a:lnB>
                      <a:noFill/>
                    </a:lnB>
                    <a:noFill/>
                  </a:tcPr>
                </a:tc>
                <a:tc>
                  <a:txBody>
                    <a:bodyPr/>
                    <a:lstStyle/>
                    <a:p>
                      <a:pPr>
                        <a:buNone/>
                      </a:pPr>
                      <a:r>
                        <a:rPr lang="en-US" sz="1200"/>
                        <a:t>Enhances traditional RAG systems by generating reasoning rationales that improve document retrieval and reduce hallucinations in LLM responses.</a:t>
                      </a:r>
                    </a:p>
                  </a:txBody>
                  <a:tcPr marL="15622" marR="15622" marT="7811" marB="7811" anchor="ctr">
                    <a:lnL>
                      <a:noFill/>
                    </a:lnL>
                    <a:lnR>
                      <a:noFill/>
                    </a:lnR>
                    <a:lnT>
                      <a:noFill/>
                    </a:lnT>
                    <a:lnB>
                      <a:noFill/>
                    </a:lnB>
                    <a:noFill/>
                  </a:tcPr>
                </a:tc>
                <a:tc>
                  <a:txBody>
                    <a:bodyPr/>
                    <a:lstStyle/>
                    <a:p>
                      <a:pPr>
                        <a:buNone/>
                      </a:pPr>
                      <a:r>
                        <a:rPr lang="en-US" sz="1200" dirty="0"/>
                        <a:t>Designed mainly for biomedical datasets and requires domain-specific corpora. (</a:t>
                      </a:r>
                      <a:r>
                        <a:rPr lang="en-US" sz="1200" dirty="0">
                          <a:hlinkClick r:id="rId5" tooltip="Rationale-Guided Retrieval Augmented Generation for Medical Question Answering - ACL Anthology"/>
                        </a:rPr>
                        <a:t>ACL Anthology</a:t>
                      </a:r>
                      <a:r>
                        <a:rPr lang="en-US" sz="1200" dirty="0"/>
                        <a:t>)</a:t>
                      </a:r>
                    </a:p>
                  </a:txBody>
                  <a:tcPr marL="15622" marR="15622" marT="7811" marB="7811" anchor="ctr">
                    <a:lnL>
                      <a:noFill/>
                    </a:lnL>
                    <a:lnR>
                      <a:noFill/>
                    </a:lnR>
                    <a:lnT>
                      <a:noFill/>
                    </a:lnT>
                    <a:lnB>
                      <a:noFill/>
                    </a:lnB>
                    <a:noFill/>
                  </a:tcPr>
                </a:tc>
                <a:extLst>
                  <a:ext uri="{0D108BD9-81ED-4DB2-BD59-A6C34878D82A}">
                    <a16:rowId xmlns:a16="http://schemas.microsoft.com/office/drawing/2014/main" val="403087110"/>
                  </a:ext>
                </a:extLst>
              </a:tr>
              <a:tr h="747246">
                <a:tc>
                  <a:txBody>
                    <a:bodyPr/>
                    <a:lstStyle/>
                    <a:p>
                      <a:pPr>
                        <a:buNone/>
                      </a:pPr>
                      <a:r>
                        <a:rPr lang="en-US" sz="1200" b="1"/>
                        <a:t>ComRAG: Retrieval-Augmented Generation with Dynamic Vector Stores for Real-time Community Question Answering</a:t>
                      </a:r>
                      <a:endParaRPr lang="en-US" sz="1200"/>
                    </a:p>
                  </a:txBody>
                  <a:tcPr marL="15622" marR="15622" marT="7811" marB="7811" anchor="ctr">
                    <a:lnL>
                      <a:noFill/>
                    </a:lnL>
                    <a:lnR>
                      <a:noFill/>
                    </a:lnR>
                    <a:lnT>
                      <a:noFill/>
                    </a:lnT>
                    <a:lnB>
                      <a:noFill/>
                    </a:lnB>
                    <a:noFill/>
                  </a:tcPr>
                </a:tc>
                <a:tc>
                  <a:txBody>
                    <a:bodyPr/>
                    <a:lstStyle/>
                    <a:p>
                      <a:pPr>
                        <a:buNone/>
                      </a:pPr>
                      <a:r>
                        <a:rPr lang="en-US" sz="1200"/>
                        <a:t>Chen et al., 2025</a:t>
                      </a:r>
                    </a:p>
                  </a:txBody>
                  <a:tcPr marL="15622" marR="15622" marT="7811" marB="7811" anchor="ctr">
                    <a:lnL>
                      <a:noFill/>
                    </a:lnL>
                    <a:lnR>
                      <a:noFill/>
                    </a:lnR>
                    <a:lnT>
                      <a:noFill/>
                    </a:lnT>
                    <a:lnB>
                      <a:noFill/>
                    </a:lnB>
                    <a:noFill/>
                  </a:tcPr>
                </a:tc>
                <a:tc>
                  <a:txBody>
                    <a:bodyPr/>
                    <a:lstStyle/>
                    <a:p>
                      <a:pPr>
                        <a:buNone/>
                      </a:pPr>
                      <a:r>
                        <a:rPr lang="en-US" sz="1200"/>
                        <a:t>Uses dynamic vector databases and retrieval pipelines to answer community questions in real time using LLMs.</a:t>
                      </a:r>
                    </a:p>
                  </a:txBody>
                  <a:tcPr marL="15622" marR="15622" marT="7811" marB="7811" anchor="ctr">
                    <a:lnL>
                      <a:noFill/>
                    </a:lnL>
                    <a:lnR>
                      <a:noFill/>
                    </a:lnR>
                    <a:lnT>
                      <a:noFill/>
                    </a:lnT>
                    <a:lnB>
                      <a:noFill/>
                    </a:lnB>
                    <a:noFill/>
                  </a:tcPr>
                </a:tc>
                <a:tc>
                  <a:txBody>
                    <a:bodyPr/>
                    <a:lstStyle/>
                    <a:p>
                      <a:pPr>
                        <a:buNone/>
                      </a:pPr>
                      <a:r>
                        <a:rPr lang="en-US" sz="1200" dirty="0"/>
                        <a:t>Focused mainly on large online knowledge bases rather than local document processing. (</a:t>
                      </a:r>
                      <a:r>
                        <a:rPr lang="en-US" sz="1200" dirty="0">
                          <a:hlinkClick r:id="rId6" tooltip="ComRAG: Retrieval-Augmented Generation with Dynamic Vector Stores for Real-time Community Question Answering in Industry - ACL Anthology"/>
                        </a:rPr>
                        <a:t>ACL Anthology</a:t>
                      </a:r>
                      <a:r>
                        <a:rPr lang="en-US" sz="1200" dirty="0"/>
                        <a:t>)</a:t>
                      </a:r>
                    </a:p>
                  </a:txBody>
                  <a:tcPr marL="15622" marR="15622" marT="7811" marB="7811" anchor="ctr">
                    <a:lnL>
                      <a:noFill/>
                    </a:lnL>
                    <a:lnR>
                      <a:noFill/>
                    </a:lnR>
                    <a:lnT>
                      <a:noFill/>
                    </a:lnT>
                    <a:lnB>
                      <a:noFill/>
                    </a:lnB>
                    <a:noFill/>
                  </a:tcPr>
                </a:tc>
                <a:extLst>
                  <a:ext uri="{0D108BD9-81ED-4DB2-BD59-A6C34878D82A}">
                    <a16:rowId xmlns:a16="http://schemas.microsoft.com/office/drawing/2014/main" val="3163107357"/>
                  </a:ext>
                </a:extLst>
              </a:tr>
            </a:tbl>
          </a:graphicData>
        </a:graphic>
      </p:graphicFrame>
    </p:spTree>
    <p:extLst>
      <p:ext uri="{BB962C8B-B14F-4D97-AF65-F5344CB8AC3E}">
        <p14:creationId xmlns:p14="http://schemas.microsoft.com/office/powerpoint/2010/main" val="1325805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5B25CC-CFDA-B833-3C5B-7D4458B986B3}"/>
              </a:ext>
            </a:extLst>
          </p:cNvPr>
          <p:cNvSpPr txBox="1"/>
          <p:nvPr/>
        </p:nvSpPr>
        <p:spPr>
          <a:xfrm>
            <a:off x="304800" y="381000"/>
            <a:ext cx="11125200" cy="3139321"/>
          </a:xfrm>
          <a:prstGeom prst="rect">
            <a:avLst/>
          </a:prstGeom>
          <a:noFill/>
        </p:spPr>
        <p:txBody>
          <a:bodyPr wrap="square" rtlCol="0">
            <a:spAutoFit/>
          </a:bodyPr>
          <a:lstStyle/>
          <a:p>
            <a:r>
              <a:rPr lang="en-US" sz="1800" dirty="0">
                <a:latin typeface="Times New Roman"/>
                <a:cs typeface="Times New Roman"/>
              </a:rPr>
              <a:t>Problem</a:t>
            </a:r>
            <a:r>
              <a:rPr lang="en-US" sz="1800" spc="-35" dirty="0">
                <a:latin typeface="Times New Roman"/>
                <a:cs typeface="Times New Roman"/>
              </a:rPr>
              <a:t> </a:t>
            </a:r>
            <a:r>
              <a:rPr lang="en-US" sz="1800" spc="-10" dirty="0">
                <a:latin typeface="Times New Roman"/>
                <a:cs typeface="Times New Roman"/>
              </a:rPr>
              <a:t>statement</a:t>
            </a:r>
            <a:endParaRPr lang="en-US" sz="1800" dirty="0">
              <a:latin typeface="Times New Roman"/>
              <a:cs typeface="Times New Roman"/>
            </a:endParaRPr>
          </a:p>
          <a:p>
            <a:r>
              <a:rPr lang="en-US" dirty="0"/>
              <a:t>Many organizations and individuals handle large volumes of digital documents such as research papers, reports, and presentations. Extracting specific information from these documents often requires manual reading, which is inefficient and time-consuming.</a:t>
            </a:r>
            <a:br>
              <a:rPr lang="en-US" dirty="0"/>
            </a:br>
            <a:br>
              <a:rPr lang="en-US" dirty="0"/>
            </a:br>
            <a:r>
              <a:rPr lang="en-US" dirty="0"/>
              <a:t>Although AI-based question-answering systems exist, most rely on </a:t>
            </a:r>
            <a:r>
              <a:rPr lang="en-US" b="1" dirty="0"/>
              <a:t>cloud services and external APIs</a:t>
            </a:r>
            <a:r>
              <a:rPr lang="en-US" dirty="0"/>
              <a:t>, which introduce issues related to </a:t>
            </a:r>
            <a:r>
              <a:rPr lang="en-US" b="1" dirty="0"/>
              <a:t>data privacy, internet dependency, and operational costs</a:t>
            </a:r>
            <a:r>
              <a:rPr lang="en-US" dirty="0"/>
              <a:t>.</a:t>
            </a:r>
            <a:br>
              <a:rPr lang="en-US" dirty="0"/>
            </a:br>
            <a:br>
              <a:rPr lang="en-US" dirty="0"/>
            </a:br>
            <a:r>
              <a:rPr lang="en-US" dirty="0"/>
              <a:t>Therefore, the problem addressed in this project is the development of a </a:t>
            </a:r>
            <a:r>
              <a:rPr lang="en-US" b="1" dirty="0"/>
              <a:t>local document question-answering system that can process documents and generate answers without requiring internet connectivity or cloud-based AI services</a:t>
            </a:r>
            <a:r>
              <a:rPr lang="en-US" dirty="0"/>
              <a:t>.</a:t>
            </a:r>
          </a:p>
        </p:txBody>
      </p:sp>
    </p:spTree>
    <p:extLst>
      <p:ext uri="{BB962C8B-B14F-4D97-AF65-F5344CB8AC3E}">
        <p14:creationId xmlns:p14="http://schemas.microsoft.com/office/powerpoint/2010/main" val="4257385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F9D592-900B-609B-61C5-7ECE1FA07990}"/>
              </a:ext>
            </a:extLst>
          </p:cNvPr>
          <p:cNvSpPr txBox="1"/>
          <p:nvPr/>
        </p:nvSpPr>
        <p:spPr>
          <a:xfrm>
            <a:off x="381000" y="457200"/>
            <a:ext cx="11430000" cy="3970318"/>
          </a:xfrm>
          <a:prstGeom prst="rect">
            <a:avLst/>
          </a:prstGeom>
          <a:noFill/>
        </p:spPr>
        <p:txBody>
          <a:bodyPr wrap="square" rtlCol="0">
            <a:spAutoFit/>
          </a:bodyPr>
          <a:lstStyle/>
          <a:p>
            <a:r>
              <a:rPr lang="en-US" sz="1800" dirty="0">
                <a:latin typeface="Times New Roman"/>
                <a:cs typeface="Times New Roman"/>
              </a:rPr>
              <a:t>Scope</a:t>
            </a:r>
            <a:r>
              <a:rPr lang="en-US" sz="1800" spc="-15" dirty="0">
                <a:latin typeface="Times New Roman"/>
                <a:cs typeface="Times New Roman"/>
              </a:rPr>
              <a:t> </a:t>
            </a:r>
            <a:r>
              <a:rPr lang="en-US" sz="1800" dirty="0">
                <a:latin typeface="Times New Roman"/>
                <a:cs typeface="Times New Roman"/>
              </a:rPr>
              <a:t>&amp;</a:t>
            </a:r>
            <a:r>
              <a:rPr lang="en-US" sz="1800" spc="-15" dirty="0">
                <a:latin typeface="Times New Roman"/>
                <a:cs typeface="Times New Roman"/>
              </a:rPr>
              <a:t> </a:t>
            </a:r>
            <a:r>
              <a:rPr lang="en-US" sz="1800" spc="-10" dirty="0">
                <a:latin typeface="Times New Roman"/>
                <a:cs typeface="Times New Roman"/>
              </a:rPr>
              <a:t>Objectives</a:t>
            </a:r>
            <a:endParaRPr lang="en-US" sz="1800" dirty="0">
              <a:latin typeface="Times New Roman"/>
              <a:cs typeface="Times New Roman"/>
            </a:endParaRPr>
          </a:p>
          <a:p>
            <a:r>
              <a:rPr lang="en-US" b="1" dirty="0"/>
              <a:t>Scope</a:t>
            </a:r>
          </a:p>
          <a:p>
            <a:r>
              <a:rPr lang="en-US" dirty="0"/>
              <a:t>The system focuses on enabling users to interact with uploaded documents through natural language queries. It processes </a:t>
            </a:r>
            <a:r>
              <a:rPr lang="en-US" b="1" dirty="0"/>
              <a:t>PDF and PowerPoint documents</a:t>
            </a:r>
            <a:r>
              <a:rPr lang="en-US" dirty="0"/>
              <a:t>, extracts textual information, and generates accurate responses based on the document content.</a:t>
            </a:r>
          </a:p>
          <a:p>
            <a:br>
              <a:rPr lang="en-US" dirty="0"/>
            </a:br>
            <a:r>
              <a:rPr lang="en-US" b="1" dirty="0"/>
              <a:t>Objectives</a:t>
            </a:r>
          </a:p>
          <a:p>
            <a:pPr marL="285750" indent="-285750">
              <a:buFont typeface="Arial" panose="020B0604020202020204" pitchFamily="34" charset="0"/>
              <a:buChar char="•"/>
            </a:pPr>
            <a:r>
              <a:rPr lang="en-US" dirty="0"/>
              <a:t>To design a </a:t>
            </a:r>
            <a:r>
              <a:rPr lang="en-US" b="1" dirty="0"/>
              <a:t>document question-answering system using Retrieval-Augmented Generation (RAG)</a:t>
            </a:r>
            <a:r>
              <a:rPr lang="en-US" dirty="0"/>
              <a:t>.</a:t>
            </a:r>
          </a:p>
          <a:p>
            <a:pPr marL="285750" indent="-285750">
              <a:buFont typeface="Arial" panose="020B0604020202020204" pitchFamily="34" charset="0"/>
              <a:buChar char="•"/>
            </a:pPr>
            <a:r>
              <a:rPr lang="en-US" dirty="0"/>
              <a:t>To extract and process text from </a:t>
            </a:r>
            <a:r>
              <a:rPr lang="en-US" b="1" dirty="0"/>
              <a:t>PDF and PPT files</a:t>
            </a:r>
            <a:r>
              <a:rPr lang="en-US" dirty="0"/>
              <a:t>.</a:t>
            </a:r>
          </a:p>
          <a:p>
            <a:pPr marL="285750" indent="-285750">
              <a:buFont typeface="Arial" panose="020B0604020202020204" pitchFamily="34" charset="0"/>
              <a:buChar char="•"/>
            </a:pPr>
            <a:r>
              <a:rPr lang="en-US" dirty="0"/>
              <a:t>To generate semantic embeddings using </a:t>
            </a:r>
            <a:r>
              <a:rPr lang="en-US" b="1" dirty="0" err="1"/>
              <a:t>HuggingFace</a:t>
            </a:r>
            <a:r>
              <a:rPr lang="en-US" b="1" dirty="0"/>
              <a:t> embedding models</a:t>
            </a:r>
            <a:r>
              <a:rPr lang="en-US" dirty="0"/>
              <a:t>.</a:t>
            </a:r>
          </a:p>
          <a:p>
            <a:pPr marL="285750" indent="-285750">
              <a:buFont typeface="Arial" panose="020B0604020202020204" pitchFamily="34" charset="0"/>
              <a:buChar char="•"/>
            </a:pPr>
            <a:r>
              <a:rPr lang="en-US" dirty="0"/>
              <a:t>To implement efficient </a:t>
            </a:r>
            <a:r>
              <a:rPr lang="en-US" b="1" dirty="0"/>
              <a:t>vector similarity search using FAISS</a:t>
            </a:r>
            <a:r>
              <a:rPr lang="en-US" dirty="0"/>
              <a:t>.</a:t>
            </a:r>
          </a:p>
          <a:p>
            <a:pPr marL="285750" indent="-285750">
              <a:buFont typeface="Arial" panose="020B0604020202020204" pitchFamily="34" charset="0"/>
              <a:buChar char="•"/>
            </a:pPr>
            <a:r>
              <a:rPr lang="en-US" dirty="0"/>
              <a:t>To generate answers using a </a:t>
            </a:r>
            <a:r>
              <a:rPr lang="en-US" b="1" dirty="0"/>
              <a:t>locally hosted LLM via Ollama</a:t>
            </a:r>
            <a:r>
              <a:rPr lang="en-US" dirty="0"/>
              <a:t>.</a:t>
            </a:r>
          </a:p>
          <a:p>
            <a:pPr marL="285750" indent="-285750">
              <a:buFont typeface="Arial" panose="020B0604020202020204" pitchFamily="34" charset="0"/>
              <a:buChar char="•"/>
            </a:pPr>
            <a:r>
              <a:rPr lang="en-US" dirty="0"/>
              <a:t>To ensure the system works </a:t>
            </a:r>
            <a:r>
              <a:rPr lang="en-US" b="1" dirty="0"/>
              <a:t>offline without requiring internet connectivity</a:t>
            </a:r>
            <a:r>
              <a:rPr lang="en-US" dirty="0"/>
              <a:t>.</a:t>
            </a:r>
          </a:p>
          <a:p>
            <a:endParaRPr lang="en-US" dirty="0"/>
          </a:p>
        </p:txBody>
      </p:sp>
    </p:spTree>
    <p:extLst>
      <p:ext uri="{BB962C8B-B14F-4D97-AF65-F5344CB8AC3E}">
        <p14:creationId xmlns:p14="http://schemas.microsoft.com/office/powerpoint/2010/main" val="684090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7EF13B-935B-4285-BD90-CB9684CD3F51}"/>
              </a:ext>
            </a:extLst>
          </p:cNvPr>
          <p:cNvSpPr txBox="1"/>
          <p:nvPr/>
        </p:nvSpPr>
        <p:spPr>
          <a:xfrm>
            <a:off x="304800" y="381000"/>
            <a:ext cx="11277600" cy="3139321"/>
          </a:xfrm>
          <a:prstGeom prst="rect">
            <a:avLst/>
          </a:prstGeom>
          <a:noFill/>
        </p:spPr>
        <p:txBody>
          <a:bodyPr wrap="square" rtlCol="0">
            <a:spAutoFit/>
          </a:bodyPr>
          <a:lstStyle/>
          <a:p>
            <a:r>
              <a:rPr lang="en-US" sz="1800" dirty="0">
                <a:latin typeface="Times New Roman"/>
                <a:cs typeface="Times New Roman"/>
              </a:rPr>
              <a:t>Existing </a:t>
            </a:r>
            <a:r>
              <a:rPr lang="en-US" sz="1800" spc="-10" dirty="0">
                <a:latin typeface="Times New Roman"/>
                <a:cs typeface="Times New Roman"/>
              </a:rPr>
              <a:t>system</a:t>
            </a:r>
            <a:endParaRPr lang="en-US" sz="1800" dirty="0">
              <a:latin typeface="Times New Roman"/>
              <a:cs typeface="Times New Roman"/>
            </a:endParaRPr>
          </a:p>
          <a:p>
            <a:r>
              <a:rPr lang="en-US" dirty="0"/>
              <a:t>Existing document question-answering systems typically rely on </a:t>
            </a:r>
            <a:r>
              <a:rPr lang="en-US" b="1" dirty="0"/>
              <a:t>cloud-based AI services such as OpenAI or Google AI APIs</a:t>
            </a:r>
            <a:r>
              <a:rPr lang="en-US" dirty="0"/>
              <a:t>. These systems process user queries by sending document data to remote servers for analysis and response generation.</a:t>
            </a:r>
          </a:p>
          <a:p>
            <a:r>
              <a:rPr lang="en-US" dirty="0"/>
              <a:t>While these systems offer high performance, they suffer from several limitations:</a:t>
            </a:r>
          </a:p>
          <a:p>
            <a:pPr marL="285750" indent="-285750">
              <a:buFont typeface="Arial" panose="020B0604020202020204" pitchFamily="34" charset="0"/>
              <a:buChar char="•"/>
            </a:pPr>
            <a:r>
              <a:rPr lang="en-US" dirty="0"/>
              <a:t>Dependence on </a:t>
            </a:r>
            <a:r>
              <a:rPr lang="en-US" b="1" dirty="0"/>
              <a:t>internet connectivity</a:t>
            </a:r>
            <a:endParaRPr lang="en-US" dirty="0"/>
          </a:p>
          <a:p>
            <a:pPr marL="285750" indent="-285750">
              <a:buFont typeface="Arial" panose="020B0604020202020204" pitchFamily="34" charset="0"/>
              <a:buChar char="•"/>
            </a:pPr>
            <a:r>
              <a:rPr lang="en-US" b="1" dirty="0"/>
              <a:t>High API usage costs</a:t>
            </a:r>
            <a:endParaRPr lang="en-US" dirty="0"/>
          </a:p>
          <a:p>
            <a:pPr marL="285750" indent="-285750">
              <a:buFont typeface="Arial" panose="020B0604020202020204" pitchFamily="34" charset="0"/>
              <a:buChar char="•"/>
            </a:pPr>
            <a:r>
              <a:rPr lang="en-US" b="1" dirty="0"/>
              <a:t>Privacy concerns when sensitive documents are uploaded</a:t>
            </a:r>
            <a:endParaRPr lang="en-US" dirty="0"/>
          </a:p>
          <a:p>
            <a:pPr marL="285750" indent="-285750">
              <a:buFont typeface="Arial" panose="020B0604020202020204" pitchFamily="34" charset="0"/>
              <a:buChar char="•"/>
            </a:pPr>
            <a:r>
              <a:rPr lang="en-US" dirty="0"/>
              <a:t>Limited customization and control over the AI model</a:t>
            </a:r>
          </a:p>
          <a:p>
            <a:r>
              <a:rPr lang="en-US" dirty="0"/>
              <a:t>These limitations highlight the need for a </a:t>
            </a:r>
            <a:r>
              <a:rPr lang="en-US" b="1" dirty="0"/>
              <a:t>local and privacy-focused document intelligence system</a:t>
            </a:r>
            <a:r>
              <a:rPr lang="en-US" dirty="0"/>
              <a:t>.</a:t>
            </a:r>
          </a:p>
          <a:p>
            <a:endParaRPr lang="en-US" dirty="0"/>
          </a:p>
        </p:txBody>
      </p:sp>
    </p:spTree>
    <p:extLst>
      <p:ext uri="{BB962C8B-B14F-4D97-AF65-F5344CB8AC3E}">
        <p14:creationId xmlns:p14="http://schemas.microsoft.com/office/powerpoint/2010/main" val="256547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408D05-E31F-4912-AF78-10FBC134F77A}"/>
              </a:ext>
            </a:extLst>
          </p:cNvPr>
          <p:cNvSpPr txBox="1"/>
          <p:nvPr/>
        </p:nvSpPr>
        <p:spPr>
          <a:xfrm>
            <a:off x="381000" y="304800"/>
            <a:ext cx="10972800" cy="4801314"/>
          </a:xfrm>
          <a:prstGeom prst="rect">
            <a:avLst/>
          </a:prstGeom>
          <a:noFill/>
        </p:spPr>
        <p:txBody>
          <a:bodyPr wrap="square" rtlCol="0">
            <a:spAutoFit/>
          </a:bodyPr>
          <a:lstStyle/>
          <a:p>
            <a:r>
              <a:rPr lang="en-US" sz="1800" dirty="0">
                <a:latin typeface="Times New Roman"/>
                <a:cs typeface="Times New Roman"/>
              </a:rPr>
              <a:t>Proposed</a:t>
            </a:r>
            <a:r>
              <a:rPr lang="en-US" sz="1800" spc="-105" dirty="0">
                <a:latin typeface="Times New Roman"/>
                <a:cs typeface="Times New Roman"/>
              </a:rPr>
              <a:t> </a:t>
            </a:r>
            <a:r>
              <a:rPr lang="en-US" sz="1800" spc="-10" dirty="0">
                <a:latin typeface="Times New Roman"/>
                <a:cs typeface="Times New Roman"/>
              </a:rPr>
              <a:t>system</a:t>
            </a:r>
            <a:endParaRPr lang="en-US" sz="1800" dirty="0">
              <a:latin typeface="Times New Roman"/>
              <a:cs typeface="Times New Roman"/>
            </a:endParaRPr>
          </a:p>
          <a:p>
            <a:r>
              <a:rPr lang="en-US" dirty="0"/>
              <a:t>The proposed system implements an </a:t>
            </a:r>
            <a:r>
              <a:rPr lang="en-US" b="1" dirty="0"/>
              <a:t>offline Retrieval-Augmented Generation (RAG) architecture</a:t>
            </a:r>
            <a:r>
              <a:rPr lang="en-US" dirty="0"/>
              <a:t> to answer questions based on uploaded documents.</a:t>
            </a:r>
            <a:br>
              <a:rPr lang="en-US" dirty="0"/>
            </a:br>
            <a:br>
              <a:rPr lang="en-US" dirty="0"/>
            </a:br>
            <a:r>
              <a:rPr lang="en-US" dirty="0"/>
              <a:t>System Workflow</a:t>
            </a:r>
          </a:p>
          <a:p>
            <a:r>
              <a:rPr lang="en-US" dirty="0"/>
              <a:t>User</a:t>
            </a:r>
          </a:p>
          <a:p>
            <a:r>
              <a:rPr lang="en-US" dirty="0"/>
              <a:t>  ↓</a:t>
            </a:r>
          </a:p>
          <a:p>
            <a:r>
              <a:rPr lang="en-US" dirty="0"/>
              <a:t>Query Input</a:t>
            </a:r>
          </a:p>
          <a:p>
            <a:r>
              <a:rPr lang="en-US" dirty="0"/>
              <a:t>  ↓</a:t>
            </a:r>
          </a:p>
          <a:p>
            <a:r>
              <a:rPr lang="en-US" dirty="0"/>
              <a:t>Document Embedding Database (FAISS)</a:t>
            </a:r>
          </a:p>
          <a:p>
            <a:r>
              <a:rPr lang="en-US" dirty="0"/>
              <a:t>  ↓</a:t>
            </a:r>
          </a:p>
          <a:p>
            <a:r>
              <a:rPr lang="en-US" dirty="0"/>
              <a:t>Relevant Context Retrieval</a:t>
            </a:r>
          </a:p>
          <a:p>
            <a:r>
              <a:rPr lang="en-US" dirty="0"/>
              <a:t>  ↓</a:t>
            </a:r>
          </a:p>
          <a:p>
            <a:r>
              <a:rPr lang="en-US" dirty="0"/>
              <a:t>Local LLM Processing (Ollama - LLaMA3)</a:t>
            </a:r>
          </a:p>
          <a:p>
            <a:r>
              <a:rPr lang="en-US" dirty="0"/>
              <a:t>  ↓</a:t>
            </a:r>
          </a:p>
          <a:p>
            <a:r>
              <a:rPr lang="en-US" dirty="0"/>
              <a:t>Generated Answer</a:t>
            </a:r>
          </a:p>
          <a:p>
            <a:endParaRPr lang="en-US" dirty="0"/>
          </a:p>
        </p:txBody>
      </p:sp>
    </p:spTree>
    <p:extLst>
      <p:ext uri="{BB962C8B-B14F-4D97-AF65-F5344CB8AC3E}">
        <p14:creationId xmlns:p14="http://schemas.microsoft.com/office/powerpoint/2010/main" val="1749795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E57DA9-5B2C-D01B-B4CE-D2517C4589E1}"/>
              </a:ext>
            </a:extLst>
          </p:cNvPr>
          <p:cNvSpPr txBox="1"/>
          <p:nvPr/>
        </p:nvSpPr>
        <p:spPr>
          <a:xfrm>
            <a:off x="457200" y="381000"/>
            <a:ext cx="11049000" cy="2585323"/>
          </a:xfrm>
          <a:prstGeom prst="rect">
            <a:avLst/>
          </a:prstGeom>
          <a:noFill/>
        </p:spPr>
        <p:txBody>
          <a:bodyPr wrap="square" rtlCol="0">
            <a:spAutoFit/>
          </a:bodyPr>
          <a:lstStyle/>
          <a:p>
            <a:r>
              <a:rPr lang="en-US" b="1" dirty="0"/>
              <a:t>Key Technologies</a:t>
            </a:r>
          </a:p>
          <a:p>
            <a:pPr marL="285750" indent="-285750">
              <a:buFont typeface="Arial" panose="020B0604020202020204" pitchFamily="34" charset="0"/>
              <a:buChar char="•"/>
            </a:pPr>
            <a:r>
              <a:rPr lang="en-US" b="1" dirty="0"/>
              <a:t>PyPDF2 &amp; python-pptx</a:t>
            </a:r>
            <a:r>
              <a:rPr lang="en-US" dirty="0"/>
              <a:t> – document extraction</a:t>
            </a:r>
          </a:p>
          <a:p>
            <a:pPr marL="285750" indent="-285750">
              <a:buFont typeface="Arial" panose="020B0604020202020204" pitchFamily="34" charset="0"/>
              <a:buChar char="•"/>
            </a:pPr>
            <a:r>
              <a:rPr lang="en-US" b="1" dirty="0"/>
              <a:t>Recursive Text Splitter</a:t>
            </a:r>
            <a:r>
              <a:rPr lang="en-US" dirty="0"/>
              <a:t> – chunking document content</a:t>
            </a:r>
          </a:p>
          <a:p>
            <a:pPr marL="285750" indent="-285750">
              <a:buFont typeface="Arial" panose="020B0604020202020204" pitchFamily="34" charset="0"/>
              <a:buChar char="•"/>
            </a:pPr>
            <a:r>
              <a:rPr lang="en-US" b="1" dirty="0" err="1"/>
              <a:t>HuggingFace</a:t>
            </a:r>
            <a:r>
              <a:rPr lang="en-US" b="1" dirty="0"/>
              <a:t> Embeddings</a:t>
            </a:r>
            <a:r>
              <a:rPr lang="en-US" dirty="0"/>
              <a:t> – semantic representation</a:t>
            </a:r>
          </a:p>
          <a:p>
            <a:pPr marL="285750" indent="-285750">
              <a:buFont typeface="Arial" panose="020B0604020202020204" pitchFamily="34" charset="0"/>
              <a:buChar char="•"/>
            </a:pPr>
            <a:r>
              <a:rPr lang="en-US" b="1" dirty="0"/>
              <a:t>FAISS Vector Database</a:t>
            </a:r>
            <a:r>
              <a:rPr lang="en-US" dirty="0"/>
              <a:t> – similarity search</a:t>
            </a:r>
          </a:p>
          <a:p>
            <a:pPr marL="285750" indent="-285750">
              <a:buFont typeface="Arial" panose="020B0604020202020204" pitchFamily="34" charset="0"/>
              <a:buChar char="•"/>
            </a:pPr>
            <a:r>
              <a:rPr lang="en-US" b="1" dirty="0"/>
              <a:t>Ollama LLM (Llama3)</a:t>
            </a:r>
            <a:r>
              <a:rPr lang="en-US" dirty="0"/>
              <a:t> – local AI answer generation</a:t>
            </a:r>
          </a:p>
          <a:p>
            <a:r>
              <a:rPr lang="en-US" dirty="0"/>
              <a:t>This approach enables </a:t>
            </a:r>
            <a:r>
              <a:rPr lang="en-US" b="1" dirty="0"/>
              <a:t>efficient document understanding while ensuring data privacy and offline functionality</a:t>
            </a:r>
            <a:r>
              <a:rPr lang="en-US" dirty="0"/>
              <a:t>.</a:t>
            </a:r>
          </a:p>
          <a:p>
            <a:endParaRPr lang="en-US" dirty="0"/>
          </a:p>
        </p:txBody>
      </p:sp>
    </p:spTree>
    <p:extLst>
      <p:ext uri="{BB962C8B-B14F-4D97-AF65-F5344CB8AC3E}">
        <p14:creationId xmlns:p14="http://schemas.microsoft.com/office/powerpoint/2010/main" val="459286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712C05-CCBD-4488-25FD-AC9B2DB68B0F}"/>
              </a:ext>
            </a:extLst>
          </p:cNvPr>
          <p:cNvSpPr txBox="1"/>
          <p:nvPr/>
        </p:nvSpPr>
        <p:spPr>
          <a:xfrm>
            <a:off x="457200" y="381000"/>
            <a:ext cx="11353800" cy="2585323"/>
          </a:xfrm>
          <a:prstGeom prst="rect">
            <a:avLst/>
          </a:prstGeom>
          <a:noFill/>
        </p:spPr>
        <p:txBody>
          <a:bodyPr wrap="square" rtlCol="0">
            <a:spAutoFit/>
          </a:bodyPr>
          <a:lstStyle/>
          <a:p>
            <a:r>
              <a:rPr lang="en-US" sz="1800" spc="-10" dirty="0">
                <a:latin typeface="Times New Roman"/>
                <a:cs typeface="Times New Roman"/>
              </a:rPr>
              <a:t>Conclusion</a:t>
            </a:r>
            <a:endParaRPr lang="en-US" sz="1800" dirty="0">
              <a:latin typeface="Times New Roman"/>
              <a:cs typeface="Times New Roman"/>
            </a:endParaRPr>
          </a:p>
          <a:p>
            <a:r>
              <a:rPr lang="en-US" dirty="0"/>
              <a:t>This project demonstrates the implementation of an </a:t>
            </a:r>
            <a:r>
              <a:rPr lang="en-US" b="1" dirty="0"/>
              <a:t>offline document question-answering system using Retrieval-Augmented Generation (RAG)</a:t>
            </a:r>
            <a:r>
              <a:rPr lang="en-US" dirty="0"/>
              <a:t>. By combining vector search techniques with a locally hosted language model, the system enables users to interact with documents in a conversational manner.</a:t>
            </a:r>
          </a:p>
          <a:p>
            <a:r>
              <a:rPr lang="en-US" dirty="0"/>
              <a:t>The proposed solution eliminates the need for cloud-based APIs, ensuring </a:t>
            </a:r>
            <a:r>
              <a:rPr lang="en-US" b="1" dirty="0"/>
              <a:t>data privacy, reduced operational costs, and offline accessibility</a:t>
            </a:r>
            <a:r>
              <a:rPr lang="en-US" dirty="0"/>
              <a:t>. The system can be further enhanced by supporting additional document formats, integrating multimodal capabilities, and improving retrieval accuracy.</a:t>
            </a:r>
          </a:p>
          <a:p>
            <a:r>
              <a:rPr lang="en-US" dirty="0"/>
              <a:t>Overall, this project highlights the potential of </a:t>
            </a:r>
            <a:r>
              <a:rPr lang="en-US" b="1" dirty="0"/>
              <a:t>local AI systems for intelligent document interaction</a:t>
            </a:r>
            <a:r>
              <a:rPr lang="en-US" dirty="0"/>
              <a:t>.</a:t>
            </a:r>
          </a:p>
          <a:p>
            <a:endParaRPr lang="en-US" dirty="0"/>
          </a:p>
        </p:txBody>
      </p:sp>
    </p:spTree>
    <p:extLst>
      <p:ext uri="{BB962C8B-B14F-4D97-AF65-F5344CB8AC3E}">
        <p14:creationId xmlns:p14="http://schemas.microsoft.com/office/powerpoint/2010/main" val="3875740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F9F47E-86C1-3787-E674-2C9EA5F7437A}"/>
              </a:ext>
            </a:extLst>
          </p:cNvPr>
          <p:cNvSpPr txBox="1"/>
          <p:nvPr/>
        </p:nvSpPr>
        <p:spPr>
          <a:xfrm>
            <a:off x="457200" y="381000"/>
            <a:ext cx="11201400" cy="4247317"/>
          </a:xfrm>
          <a:prstGeom prst="rect">
            <a:avLst/>
          </a:prstGeom>
          <a:noFill/>
        </p:spPr>
        <p:txBody>
          <a:bodyPr wrap="square" rtlCol="0">
            <a:spAutoFit/>
          </a:bodyPr>
          <a:lstStyle/>
          <a:p>
            <a:r>
              <a:rPr lang="en-US" dirty="0"/>
              <a:t>References</a:t>
            </a:r>
          </a:p>
          <a:p>
            <a:br>
              <a:rPr lang="en-US" dirty="0"/>
            </a:br>
            <a:r>
              <a:rPr lang="en-US" dirty="0"/>
              <a:t>[1] Ryota Tanaka et al., “</a:t>
            </a:r>
            <a:r>
              <a:rPr lang="en-US" dirty="0" err="1"/>
              <a:t>VDocRAG</a:t>
            </a:r>
            <a:r>
              <a:rPr lang="en-US" dirty="0"/>
              <a:t>: Retrieval-Augmented Generation over Visually-Rich Documents,” in </a:t>
            </a:r>
            <a:r>
              <a:rPr lang="en-US" i="1" dirty="0"/>
              <a:t>Proceedings of the IEEE/CVF Conference on Computer Vision and Pattern Recognition (CVPR)</a:t>
            </a:r>
            <a:r>
              <a:rPr lang="en-US" dirty="0"/>
              <a:t>, 2025.</a:t>
            </a:r>
          </a:p>
          <a:p>
            <a:r>
              <a:rPr lang="en-US" dirty="0"/>
              <a:t>[2] </a:t>
            </a:r>
            <a:r>
              <a:rPr lang="en-US" dirty="0" err="1"/>
              <a:t>Thi</a:t>
            </a:r>
            <a:r>
              <a:rPr lang="en-US" dirty="0"/>
              <a:t> Thu Uyen Hoang and Viet Anh Nguyen, “PDF Retrieval-Augmented Question Answering,” 2025. Available: </a:t>
            </a:r>
            <a:r>
              <a:rPr lang="en-US" dirty="0">
                <a:hlinkClick r:id="rId2"/>
              </a:rPr>
              <a:t>https://huggingface.co/papers/2506.18027</a:t>
            </a:r>
            <a:endParaRPr lang="en-US" dirty="0"/>
          </a:p>
          <a:p>
            <a:r>
              <a:rPr lang="en-US" dirty="0"/>
              <a:t>[3] Chen Xu et al., “</a:t>
            </a:r>
            <a:r>
              <a:rPr lang="en-US" dirty="0" err="1"/>
              <a:t>HybGRAG</a:t>
            </a:r>
            <a:r>
              <a:rPr lang="en-US" dirty="0"/>
              <a:t>: Hybrid Retrieval-Augmented Generation on Textual and Relational Knowledge Bases,” in </a:t>
            </a:r>
            <a:r>
              <a:rPr lang="en-US" i="1" dirty="0"/>
              <a:t>Proceedings of the Annual Meeting of the Association for Computational Linguistics (ACL)</a:t>
            </a:r>
            <a:r>
              <a:rPr lang="en-US" dirty="0"/>
              <a:t>, 2025.</a:t>
            </a:r>
          </a:p>
          <a:p>
            <a:r>
              <a:rPr lang="en-US" dirty="0"/>
              <a:t>[4] Sohn </a:t>
            </a:r>
            <a:r>
              <a:rPr lang="en-US" dirty="0" err="1"/>
              <a:t>Sunghyun</a:t>
            </a:r>
            <a:r>
              <a:rPr lang="en-US" dirty="0"/>
              <a:t> et al., “RAG²: Rationale-Guided Retrieval-Augmented Generation for Medical Question Answering,” in </a:t>
            </a:r>
            <a:r>
              <a:rPr lang="en-US" i="1" dirty="0"/>
              <a:t>Proceedings of the North American Chapter of the Association for Computational Linguistics (NAACL)</a:t>
            </a:r>
            <a:r>
              <a:rPr lang="en-US" dirty="0"/>
              <a:t>, 2025.</a:t>
            </a:r>
          </a:p>
          <a:p>
            <a:r>
              <a:rPr lang="en-US" dirty="0"/>
              <a:t>[5] Chen Wei et al., “</a:t>
            </a:r>
            <a:r>
              <a:rPr lang="en-US" dirty="0" err="1"/>
              <a:t>ComRAG</a:t>
            </a:r>
            <a:r>
              <a:rPr lang="en-US" dirty="0"/>
              <a:t>: Retrieval-Augmented Generation with Dynamic Vector Stores for Real-time Community Question Answering,” in </a:t>
            </a:r>
            <a:r>
              <a:rPr lang="en-US" i="1" dirty="0"/>
              <a:t>Proceedings of the ACL Industry Track</a:t>
            </a:r>
            <a:r>
              <a:rPr lang="en-US" dirty="0"/>
              <a:t>, 2025.</a:t>
            </a:r>
          </a:p>
          <a:p>
            <a:endParaRPr lang="en-US" dirty="0"/>
          </a:p>
        </p:txBody>
      </p:sp>
    </p:spTree>
    <p:extLst>
      <p:ext uri="{BB962C8B-B14F-4D97-AF65-F5344CB8AC3E}">
        <p14:creationId xmlns:p14="http://schemas.microsoft.com/office/powerpoint/2010/main" val="900353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3822" y="2008514"/>
            <a:ext cx="7350125" cy="939800"/>
          </a:xfrm>
          <a:prstGeom prst="rect">
            <a:avLst/>
          </a:prstGeom>
        </p:spPr>
        <p:txBody>
          <a:bodyPr vert="horz" wrap="square" lIns="0" tIns="12700" rIns="0" bIns="0" rtlCol="0">
            <a:spAutoFit/>
          </a:bodyPr>
          <a:lstStyle/>
          <a:p>
            <a:pPr marL="12700">
              <a:lnSpc>
                <a:spcPct val="100000"/>
              </a:lnSpc>
              <a:spcBef>
                <a:spcPts val="100"/>
              </a:spcBef>
              <a:tabLst>
                <a:tab pos="3886200" algn="l"/>
                <a:tab pos="4288790" algn="l"/>
              </a:tabLst>
            </a:pPr>
            <a:r>
              <a:rPr spc="-10" dirty="0"/>
              <a:t>Suggestions</a:t>
            </a:r>
            <a:r>
              <a:rPr dirty="0"/>
              <a:t>	</a:t>
            </a:r>
            <a:r>
              <a:rPr spc="-50" dirty="0"/>
              <a:t>/</a:t>
            </a:r>
            <a:r>
              <a:rPr dirty="0"/>
              <a:t>	</a:t>
            </a:r>
            <a:r>
              <a:rPr spc="-10" dirty="0"/>
              <a:t>Questions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8100">
              <a:lnSpc>
                <a:spcPct val="100000"/>
              </a:lnSpc>
              <a:spcBef>
                <a:spcPts val="100"/>
              </a:spcBef>
              <a:tabLst>
                <a:tab pos="2174875" algn="l"/>
                <a:tab pos="3508375" algn="l"/>
              </a:tabLst>
            </a:pPr>
            <a:r>
              <a:rPr spc="-10" dirty="0"/>
              <a:t>Thank</a:t>
            </a:r>
            <a:r>
              <a:rPr dirty="0"/>
              <a:t>	</a:t>
            </a:r>
            <a:r>
              <a:rPr spc="-25" dirty="0"/>
              <a:t>you</a:t>
            </a:r>
            <a:r>
              <a:rPr dirty="0"/>
              <a:t>	</a:t>
            </a:r>
            <a:r>
              <a:rPr spc="-5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TotalTime>
  <Words>1228</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MT</vt:lpstr>
      <vt:lpstr>Calibri</vt:lpstr>
      <vt:lpstr>Times New Roman</vt:lpstr>
      <vt:lpstr>Office Theme</vt:lpstr>
      <vt:lpstr>B.M.S. COLLEGE OF ENGINEERING</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Suggestions / Questions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Work 1 review 1 PPT_Template.pptx</dc:title>
  <cp:lastModifiedBy>Kushal KKB</cp:lastModifiedBy>
  <cp:revision>1</cp:revision>
  <dcterms:created xsi:type="dcterms:W3CDTF">2026-03-13T17:04:54Z</dcterms:created>
  <dcterms:modified xsi:type="dcterms:W3CDTF">2026-03-13T18:08:33Z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2026-03-13T00:00:00Z</vt:filetime>
  </property>
  <property fmtid="{D5CDD505-2E9C-101B-9397-08002B2CF9AE}" pid="3" name="Creator">
    <vt:lpwstr>Google</vt:lpwstr>
  </property>
  <property fmtid="{D5CDD505-2E9C-101B-9397-08002B2CF9AE}" pid="4" name="LastSaved">
    <vt:filetime>2026-03-13T00:00:00Z</vt:filetime>
  </property>
</Properties>
</file>